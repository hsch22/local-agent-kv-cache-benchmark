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8"/>
    <p:restoredTop sz="94682"/>
  </p:normalViewPr>
  <p:slideViewPr>
    <p:cSldViewPr snapToGrid="0">
      <p:cViewPr varScale="1">
        <p:scale>
          <a:sx n="121" d="100"/>
          <a:sy n="121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6BB5-E471-DBC3-9286-1372D056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F7C0-9F99-C182-1821-0FA12E344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1DFDC-D03D-CB47-8ED1-D54B6DDEB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EFB93-7472-266C-2757-23467C8B6D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6939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ackground">
            <a:extLst>
              <a:ext uri="{FF2B5EF4-FFF2-40B4-BE49-F238E27FC236}">
                <a16:creationId xmlns:a16="http://schemas.microsoft.com/office/drawing/2014/main" id="{322A8E95-3276-454D-A43D-554CA8C08A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3C0CB7-D2DB-48A6-AA3B-5C17CE07C6AB}"/>
              </a:ext>
            </a:extLst>
          </p:cNvPr>
          <p:cNvSpPr>
            <a:spLocks noGrp="1"/>
          </p:cNvSpPr>
          <p:nvPr/>
        </p:nvSpPr>
        <p:spPr>
          <a:xfrm>
            <a:off x="609600" y="1033463"/>
            <a:ext cx="5715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CE8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 err="1">
                <a:solidFill>
                  <a:srgbClr val="ECE8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本地</a:t>
            </a:r>
            <a:r>
              <a:rPr sz="1400" b="1" dirty="0">
                <a:solidFill>
                  <a:srgbClr val="ECE8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LLM Agent Prompt/KV </a:t>
            </a:r>
            <a:r>
              <a:rPr sz="1400" b="1" dirty="0" err="1">
                <a:solidFill>
                  <a:srgbClr val="ECE8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缓存复用的性能评估</a:t>
            </a:r>
            <a:endParaRPr sz="1400" b="1" dirty="0">
              <a:solidFill>
                <a:srgbClr val="ECE8D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D47296-442D-47AB-82C0-B1FD30F94C6D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5715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defRPr sz="3900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 dirty="0" err="1">
                <a:solidFill>
                  <a:srgbClr val="F7F4E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稳定前缀比</a:t>
            </a:r>
            <a:endParaRPr sz="3900" b="1" dirty="0">
              <a:solidFill>
                <a:srgbClr val="F7F4E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l">
              <a:lnSpc>
                <a:spcPct val="125000"/>
              </a:lnSpc>
              <a:defRPr sz="3900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 dirty="0" err="1">
                <a:solidFill>
                  <a:srgbClr val="F7F4E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单纯打开缓存更关键</a:t>
            </a:r>
            <a:endParaRPr sz="3900" b="1" dirty="0">
              <a:solidFill>
                <a:srgbClr val="F7F4E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A636A45E-675F-4FDB-9C9B-1122A952C76B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5143500" cy="13335"/>
          </a:xfrm>
          <a:prstGeom prst="rect">
            <a:avLst/>
          </a:prstGeom>
          <a:solidFill>
            <a:srgbClr val="4550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metric-value">
            <a:extLst>
              <a:ext uri="{FF2B5EF4-FFF2-40B4-BE49-F238E27FC236}">
                <a16:creationId xmlns:a16="http://schemas.microsoft.com/office/drawing/2014/main" id="{DB1BDF7D-1AD4-44C3-892E-6C62AE8A35F1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rPr>
              <a:t>112.2x</a:t>
            </a:r>
          </a:p>
        </p:txBody>
      </p:sp>
      <p:sp>
        <p:nvSpPr>
          <p:cNvPr id="10" name="metric-label">
            <a:extLst>
              <a:ext uri="{FF2B5EF4-FFF2-40B4-BE49-F238E27FC236}">
                <a16:creationId xmlns:a16="http://schemas.microsoft.com/office/drawing/2014/main" id="{EAC22189-A65E-4994-B7B0-97F17EE0EFA5}"/>
              </a:ext>
            </a:extLst>
          </p:cNvPr>
          <p:cNvSpPr>
            <a:spLocks noGrp="1"/>
          </p:cNvSpPr>
          <p:nvPr/>
        </p:nvSpPr>
        <p:spPr>
          <a:xfrm>
            <a:off x="609599" y="4442459"/>
            <a:ext cx="2752724" cy="586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Hiragino Sans GB"/>
                <a:ea typeface="Hiragino Sans GB"/>
                <a:cs typeface="Hiragino Sans GB"/>
              </a:rPr>
              <a:t>Coding 16K TTFT speedup</a:t>
            </a:r>
          </a:p>
        </p:txBody>
      </p:sp>
      <p:sp>
        <p:nvSpPr>
          <p:cNvPr id="11" name="metric-detail">
            <a:extLst>
              <a:ext uri="{FF2B5EF4-FFF2-40B4-BE49-F238E27FC236}">
                <a16:creationId xmlns:a16="http://schemas.microsoft.com/office/drawing/2014/main" id="{72EF6446-A3D3-44DE-BDEF-E252BDE5E85B}"/>
              </a:ext>
            </a:extLst>
          </p:cNvPr>
          <p:cNvSpPr>
            <a:spLocks noGrp="1"/>
          </p:cNvSpPr>
          <p:nvPr/>
        </p:nvSpPr>
        <p:spPr>
          <a:xfrm>
            <a:off x="609600" y="4806315"/>
            <a:ext cx="2190750" cy="3467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Hiragino Sans GB"/>
                <a:ea typeface="Hiragino Sans GB"/>
                <a:cs typeface="Hiragino Sans GB"/>
              </a:rPr>
              <a:t>37.443s → 0.334s</a:t>
            </a:r>
          </a:p>
        </p:txBody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A8A9E28F-0BBA-42FA-B4A5-376AB98785FE}"/>
              </a:ext>
            </a:extLst>
          </p:cNvPr>
          <p:cNvSpPr>
            <a:spLocks noGrp="1"/>
          </p:cNvSpPr>
          <p:nvPr/>
        </p:nvSpPr>
        <p:spPr>
          <a:xfrm>
            <a:off x="3466358" y="377190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315C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315C98"/>
                </a:solidFill>
                <a:latin typeface="Hiragino Sans GB"/>
                <a:ea typeface="Hiragino Sans GB"/>
                <a:cs typeface="Hiragino Sans GB"/>
              </a:rPr>
              <a:t>103.7x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CBDE47CA-1471-4514-AEE4-E09684A80591}"/>
              </a:ext>
            </a:extLst>
          </p:cNvPr>
          <p:cNvSpPr>
            <a:spLocks noGrp="1"/>
          </p:cNvSpPr>
          <p:nvPr/>
        </p:nvSpPr>
        <p:spPr>
          <a:xfrm>
            <a:off x="3466358" y="4442459"/>
            <a:ext cx="2752724" cy="8248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iragino Sans GB"/>
                <a:ea typeface="Hiragino Sans GB"/>
                <a:cs typeface="Hiragino Sans GB"/>
              </a:rPr>
              <a:t>RAG 16K TTFT speedup</a:t>
            </a:r>
          </a:p>
        </p:txBody>
      </p:sp>
      <p:sp>
        <p:nvSpPr>
          <p:cNvPr id="14" name="metric-detail">
            <a:extLst>
              <a:ext uri="{FF2B5EF4-FFF2-40B4-BE49-F238E27FC236}">
                <a16:creationId xmlns:a16="http://schemas.microsoft.com/office/drawing/2014/main" id="{5C447A5B-B335-4186-9810-CC873E37F510}"/>
              </a:ext>
            </a:extLst>
          </p:cNvPr>
          <p:cNvSpPr>
            <a:spLocks noGrp="1"/>
          </p:cNvSpPr>
          <p:nvPr/>
        </p:nvSpPr>
        <p:spPr>
          <a:xfrm>
            <a:off x="3466358" y="4806315"/>
            <a:ext cx="2190750" cy="3467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Hiragino Sans GB"/>
                <a:ea typeface="Hiragino Sans GB"/>
                <a:cs typeface="Hiragino Sans GB"/>
              </a:rPr>
              <a:t>25.341s → 0.244s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992EEA-6BB1-4C2B-9025-5C97A7166DCF}"/>
              </a:ext>
            </a:extLst>
          </p:cNvPr>
          <p:cNvSpPr>
            <a:spLocks noGrp="1"/>
          </p:cNvSpPr>
          <p:nvPr/>
        </p:nvSpPr>
        <p:spPr>
          <a:xfrm>
            <a:off x="5886449" y="10048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i="1" dirty="0">
                <a:solidFill>
                  <a:srgbClr val="C8D0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warm turn prompt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33440A-5943-40B1-9889-A169E587CC5C}"/>
              </a:ext>
            </a:extLst>
          </p:cNvPr>
          <p:cNvSpPr>
            <a:spLocks noGrp="1"/>
          </p:cNvSpPr>
          <p:nvPr/>
        </p:nvSpPr>
        <p:spPr>
          <a:xfrm>
            <a:off x="5886449" y="1590675"/>
            <a:ext cx="2781300" cy="8763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rompt-block-label">
            <a:extLst>
              <a:ext uri="{FF2B5EF4-FFF2-40B4-BE49-F238E27FC236}">
                <a16:creationId xmlns:a16="http://schemas.microsoft.com/office/drawing/2014/main" id="{AEFF3BDF-FF96-442F-A0E8-B76F525ACA99}"/>
              </a:ext>
            </a:extLst>
          </p:cNvPr>
          <p:cNvSpPr>
            <a:spLocks noGrp="1"/>
          </p:cNvSpPr>
          <p:nvPr/>
        </p:nvSpPr>
        <p:spPr>
          <a:xfrm>
            <a:off x="5886449" y="1647825"/>
            <a:ext cx="27813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stable prefix</a:t>
            </a:r>
          </a:p>
          <a:p>
            <a:pPr algn="ctr"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US" altLang="zh-CN" sz="1400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· </a:t>
            </a:r>
            <a:r>
              <a:rPr sz="1400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system · tools </a:t>
            </a:r>
            <a:endParaRPr lang="en-US" sz="1400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ctr"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· repo/doc context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7F57DA-67F8-4572-B070-05F446ABC042}"/>
              </a:ext>
            </a:extLst>
          </p:cNvPr>
          <p:cNvSpPr>
            <a:spLocks noGrp="1"/>
          </p:cNvSpPr>
          <p:nvPr/>
        </p:nvSpPr>
        <p:spPr>
          <a:xfrm>
            <a:off x="8667748" y="1590675"/>
            <a:ext cx="2781300" cy="87630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rompt-block-label">
            <a:extLst>
              <a:ext uri="{FF2B5EF4-FFF2-40B4-BE49-F238E27FC236}">
                <a16:creationId xmlns:a16="http://schemas.microsoft.com/office/drawing/2014/main" id="{136FB43C-021A-4148-BA82-4BC66682CA95}"/>
              </a:ext>
            </a:extLst>
          </p:cNvPr>
          <p:cNvSpPr>
            <a:spLocks noGrp="1"/>
          </p:cNvSpPr>
          <p:nvPr/>
        </p:nvSpPr>
        <p:spPr>
          <a:xfrm>
            <a:off x="8667748" y="1647825"/>
            <a:ext cx="27813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dynamic suffix</a:t>
            </a:r>
          </a:p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-US" altLang="zh-CN"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· </a:t>
            </a: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request id · latest error </a:t>
            </a:r>
            <a:endParaRPr lang="en-US" sz="1400" b="1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· current user ask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1D8757-184A-41E9-A565-55384CE1D41C}"/>
              </a:ext>
            </a:extLst>
          </p:cNvPr>
          <p:cNvSpPr>
            <a:spLocks noGrp="1"/>
          </p:cNvSpPr>
          <p:nvPr/>
        </p:nvSpPr>
        <p:spPr>
          <a:xfrm>
            <a:off x="8467723" y="2557462"/>
            <a:ext cx="400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449DC4-4062-42C0-8C6D-BD676333B380}"/>
              </a:ext>
            </a:extLst>
          </p:cNvPr>
          <p:cNvSpPr>
            <a:spLocks noGrp="1"/>
          </p:cNvSpPr>
          <p:nvPr/>
        </p:nvSpPr>
        <p:spPr>
          <a:xfrm>
            <a:off x="7489188" y="3051810"/>
            <a:ext cx="2476500" cy="74295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mpt-block-label">
            <a:extLst>
              <a:ext uri="{FF2B5EF4-FFF2-40B4-BE49-F238E27FC236}">
                <a16:creationId xmlns:a16="http://schemas.microsoft.com/office/drawing/2014/main" id="{10A116BC-D2C3-4F32-8C6C-23F79B8E7573}"/>
              </a:ext>
            </a:extLst>
          </p:cNvPr>
          <p:cNvSpPr>
            <a:spLocks noGrp="1"/>
          </p:cNvSpPr>
          <p:nvPr/>
        </p:nvSpPr>
        <p:spPr>
          <a:xfrm>
            <a:off x="7489187" y="3109912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llama-server</a:t>
            </a:r>
          </a:p>
          <a:p>
            <a:pPr algn="ctr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KV cache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2C58ED-0E1A-48B1-A804-10C20E03828D}"/>
              </a:ext>
            </a:extLst>
          </p:cNvPr>
          <p:cNvSpPr>
            <a:spLocks noGrp="1"/>
          </p:cNvSpPr>
          <p:nvPr/>
        </p:nvSpPr>
        <p:spPr>
          <a:xfrm>
            <a:off x="6494565" y="4371975"/>
            <a:ext cx="1524000" cy="40005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prompt-block-label">
            <a:extLst>
              <a:ext uri="{FF2B5EF4-FFF2-40B4-BE49-F238E27FC236}">
                <a16:creationId xmlns:a16="http://schemas.microsoft.com/office/drawing/2014/main" id="{B0ADACB6-CC4B-4FBE-8935-5B3532CADC77}"/>
              </a:ext>
            </a:extLst>
          </p:cNvPr>
          <p:cNvSpPr>
            <a:spLocks noGrp="1"/>
          </p:cNvSpPr>
          <p:nvPr/>
        </p:nvSpPr>
        <p:spPr>
          <a:xfrm>
            <a:off x="6589815" y="4429125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prefix hit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276556-059A-4645-84CE-953CEF461611}"/>
              </a:ext>
            </a:extLst>
          </p:cNvPr>
          <p:cNvSpPr>
            <a:spLocks noGrp="1"/>
          </p:cNvSpPr>
          <p:nvPr/>
        </p:nvSpPr>
        <p:spPr>
          <a:xfrm>
            <a:off x="8113815" y="4406846"/>
            <a:ext cx="304800" cy="3071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dirty="0">
                <a:solidFill>
                  <a:srgbClr val="F7F4E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→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B0D52F-E962-40BB-9932-4587ECCB6855}"/>
              </a:ext>
            </a:extLst>
          </p:cNvPr>
          <p:cNvSpPr>
            <a:spLocks noGrp="1"/>
          </p:cNvSpPr>
          <p:nvPr/>
        </p:nvSpPr>
        <p:spPr>
          <a:xfrm>
            <a:off x="8494815" y="4371975"/>
            <a:ext cx="2381250" cy="40005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mpt-block-label">
            <a:extLst>
              <a:ext uri="{FF2B5EF4-FFF2-40B4-BE49-F238E27FC236}">
                <a16:creationId xmlns:a16="http://schemas.microsoft.com/office/drawing/2014/main" id="{CD245106-A26F-4101-BCF3-C5EA3A824A9C}"/>
              </a:ext>
            </a:extLst>
          </p:cNvPr>
          <p:cNvSpPr>
            <a:spLocks noGrp="1"/>
          </p:cNvSpPr>
          <p:nvPr/>
        </p:nvSpPr>
        <p:spPr>
          <a:xfrm>
            <a:off x="8590065" y="4429125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prefill only short suffix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18DDB0D-F61F-42F2-9D82-0EB71D5BB8C8}"/>
              </a:ext>
            </a:extLst>
          </p:cNvPr>
          <p:cNvSpPr>
            <a:spLocks noGrp="1"/>
          </p:cNvSpPr>
          <p:nvPr/>
        </p:nvSpPr>
        <p:spPr>
          <a:xfrm>
            <a:off x="6494565" y="5153025"/>
            <a:ext cx="1428750" cy="257175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hip-text">
            <a:extLst>
              <a:ext uri="{FF2B5EF4-FFF2-40B4-BE49-F238E27FC236}">
                <a16:creationId xmlns:a16="http://schemas.microsoft.com/office/drawing/2014/main" id="{941C7C81-9010-4D5C-B031-0008F6F43719}"/>
              </a:ext>
            </a:extLst>
          </p:cNvPr>
          <p:cNvSpPr>
            <a:spLocks noGrp="1"/>
          </p:cNvSpPr>
          <p:nvPr/>
        </p:nvSpPr>
        <p:spPr>
          <a:xfrm>
            <a:off x="6589815" y="5181600"/>
            <a:ext cx="1238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stable first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3C7632-028F-42A4-9E44-99B8DA9975E9}"/>
              </a:ext>
            </a:extLst>
          </p:cNvPr>
          <p:cNvSpPr>
            <a:spLocks noGrp="1"/>
          </p:cNvSpPr>
          <p:nvPr/>
        </p:nvSpPr>
        <p:spPr>
          <a:xfrm>
            <a:off x="8066190" y="5153025"/>
            <a:ext cx="1428750" cy="257175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hip-text">
            <a:extLst>
              <a:ext uri="{FF2B5EF4-FFF2-40B4-BE49-F238E27FC236}">
                <a16:creationId xmlns:a16="http://schemas.microsoft.com/office/drawing/2014/main" id="{B3908697-1CE0-4458-9B64-2D7ED6D9DAE6}"/>
              </a:ext>
            </a:extLst>
          </p:cNvPr>
          <p:cNvSpPr>
            <a:spLocks noGrp="1"/>
          </p:cNvSpPr>
          <p:nvPr/>
        </p:nvSpPr>
        <p:spPr>
          <a:xfrm>
            <a:off x="8161440" y="5181600"/>
            <a:ext cx="1238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volatile last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47AE36-C214-4D09-B93F-54C853ABFD03}"/>
              </a:ext>
            </a:extLst>
          </p:cNvPr>
          <p:cNvSpPr>
            <a:spLocks noGrp="1"/>
          </p:cNvSpPr>
          <p:nvPr/>
        </p:nvSpPr>
        <p:spPr>
          <a:xfrm>
            <a:off x="9637815" y="5153025"/>
            <a:ext cx="1428750" cy="257175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hip-text">
            <a:extLst>
              <a:ext uri="{FF2B5EF4-FFF2-40B4-BE49-F238E27FC236}">
                <a16:creationId xmlns:a16="http://schemas.microsoft.com/office/drawing/2014/main" id="{A39F4FA1-AAA3-441A-8D1B-54739C1229C0}"/>
              </a:ext>
            </a:extLst>
          </p:cNvPr>
          <p:cNvSpPr>
            <a:spLocks noGrp="1"/>
          </p:cNvSpPr>
          <p:nvPr/>
        </p:nvSpPr>
        <p:spPr>
          <a:xfrm>
            <a:off x="9733065" y="5181600"/>
            <a:ext cx="1238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warm TTFT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50C7187-01D4-4F07-A2D7-26658C50EA87}"/>
              </a:ext>
            </a:extLst>
          </p:cNvPr>
          <p:cNvSpPr>
            <a:spLocks noGrp="1"/>
          </p:cNvSpPr>
          <p:nvPr/>
        </p:nvSpPr>
        <p:spPr>
          <a:xfrm>
            <a:off x="609600" y="5686424"/>
            <a:ext cx="5143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C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 dirty="0" err="1">
                <a:solidFill>
                  <a:srgbClr val="C8D0C8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元培学院</a:t>
            </a:r>
            <a:r>
              <a:rPr sz="1900" b="1" dirty="0">
                <a:solidFill>
                  <a:srgbClr val="C8D0C8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 </a:t>
            </a:r>
            <a:r>
              <a:rPr sz="1900" b="1" dirty="0" err="1">
                <a:solidFill>
                  <a:srgbClr val="C8D0C8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胡思成</a:t>
            </a:r>
            <a:r>
              <a:rPr sz="1900" b="1" dirty="0">
                <a:solidFill>
                  <a:srgbClr val="C8D0C8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 </a:t>
            </a:r>
            <a:r>
              <a:rPr sz="1900" b="1" dirty="0">
                <a:solidFill>
                  <a:srgbClr val="C8D0C8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2400017832</a:t>
            </a:r>
          </a:p>
        </p:txBody>
      </p:sp>
      <p:sp>
        <p:nvSpPr>
          <p:cNvPr id="36" name="footer-page">
            <a:extLst>
              <a:ext uri="{FF2B5EF4-FFF2-40B4-BE49-F238E27FC236}">
                <a16:creationId xmlns:a16="http://schemas.microsoft.com/office/drawing/2014/main" id="{23FFF942-DAA2-4858-BF92-806F47F4922D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 dirty="0">
                <a:solidFill>
                  <a:srgbClr val="62706A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275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ackground">
            <a:extLst>
              <a:ext uri="{FF2B5EF4-FFF2-40B4-BE49-F238E27FC236}">
                <a16:creationId xmlns:a16="http://schemas.microsoft.com/office/drawing/2014/main" id="{DE4EC05F-3E5B-4B40-A2E8-9D4D65167E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36D45320-EAF5-415E-8728-00356EA3CE37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7ADF9641-6A61-439D-8BD0-201A1B0136C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0A6B38F6-9622-43B0-8109-BE081CCCF58D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PROBLEM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BEA0BFA-8506-4486-A3B3-ED92FD34F390}"/>
              </a:ext>
            </a:extLst>
          </p:cNvPr>
          <p:cNvSpPr>
            <a:spLocks noGrp="1"/>
          </p:cNvSpPr>
          <p:nvPr/>
        </p:nvSpPr>
        <p:spPr>
          <a:xfrm>
            <a:off x="609600" y="868938"/>
            <a:ext cx="11406554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多轮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Agent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反复提交长上下文，warm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turn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仍会被重复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prefill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拖慢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714184-4E10-4268-A8BA-4115AC68A366}"/>
              </a:ext>
            </a:extLst>
          </p:cNvPr>
          <p:cNvSpPr>
            <a:spLocks noGrp="1"/>
          </p:cNvSpPr>
          <p:nvPr/>
        </p:nvSpPr>
        <p:spPr>
          <a:xfrm>
            <a:off x="609600" y="1745238"/>
            <a:ext cx="5810250" cy="46888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三轮请求里，稳定上下文占主体；变化通常只是一小段元数据和当前任务</a:t>
            </a:r>
            <a:endParaRPr sz="1275" b="0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E1DC6D-AF97-4029-A96E-826CEA6D659D}"/>
              </a:ext>
            </a:extLst>
          </p:cNvPr>
          <p:cNvSpPr>
            <a:spLocks noGrp="1"/>
          </p:cNvSpPr>
          <p:nvPr/>
        </p:nvSpPr>
        <p:spPr>
          <a:xfrm>
            <a:off x="256693" y="2690376"/>
            <a:ext cx="732539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turn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6EC8D-4CFE-4557-8B44-DB0682C3F700}"/>
              </a:ext>
            </a:extLst>
          </p:cNvPr>
          <p:cNvSpPr>
            <a:spLocks noGrp="1"/>
          </p:cNvSpPr>
          <p:nvPr/>
        </p:nvSpPr>
        <p:spPr>
          <a:xfrm>
            <a:off x="1038225" y="2533650"/>
            <a:ext cx="87630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ompt-block-label">
            <a:extLst>
              <a:ext uri="{FF2B5EF4-FFF2-40B4-BE49-F238E27FC236}">
                <a16:creationId xmlns:a16="http://schemas.microsoft.com/office/drawing/2014/main" id="{B360C290-CCDC-4EB5-9972-CFAAD4C6DE6A}"/>
              </a:ext>
            </a:extLst>
          </p:cNvPr>
          <p:cNvSpPr>
            <a:spLocks noGrp="1"/>
          </p:cNvSpPr>
          <p:nvPr/>
        </p:nvSpPr>
        <p:spPr>
          <a:xfrm>
            <a:off x="1133475" y="2590800"/>
            <a:ext cx="68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timestamp</a:t>
            </a:r>
          </a:p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request id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3A43E8-ED1E-4810-ACCD-7956CFA875B3}"/>
              </a:ext>
            </a:extLst>
          </p:cNvPr>
          <p:cNvSpPr>
            <a:spLocks noGrp="1"/>
          </p:cNvSpPr>
          <p:nvPr/>
        </p:nvSpPr>
        <p:spPr>
          <a:xfrm>
            <a:off x="1990725" y="2533650"/>
            <a:ext cx="12573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ompt-block-label">
            <a:extLst>
              <a:ext uri="{FF2B5EF4-FFF2-40B4-BE49-F238E27FC236}">
                <a16:creationId xmlns:a16="http://schemas.microsoft.com/office/drawing/2014/main" id="{05518279-FAD9-4DB9-99A5-CBC7CB5E6EDD}"/>
              </a:ext>
            </a:extLst>
          </p:cNvPr>
          <p:cNvSpPr>
            <a:spLocks noGrp="1"/>
          </p:cNvSpPr>
          <p:nvPr/>
        </p:nvSpPr>
        <p:spPr>
          <a:xfrm>
            <a:off x="2085975" y="2590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system prompt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C96B9B-C37C-4081-8EE3-1C4F80DD6D30}"/>
              </a:ext>
            </a:extLst>
          </p:cNvPr>
          <p:cNvSpPr>
            <a:spLocks noGrp="1"/>
          </p:cNvSpPr>
          <p:nvPr/>
        </p:nvSpPr>
        <p:spPr>
          <a:xfrm>
            <a:off x="3324225" y="2533650"/>
            <a:ext cx="11430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rompt-block-label">
            <a:extLst>
              <a:ext uri="{FF2B5EF4-FFF2-40B4-BE49-F238E27FC236}">
                <a16:creationId xmlns:a16="http://schemas.microsoft.com/office/drawing/2014/main" id="{D3445D3F-9FD0-4B59-9D3F-0FCAAC8580F2}"/>
              </a:ext>
            </a:extLst>
          </p:cNvPr>
          <p:cNvSpPr>
            <a:spLocks noGrp="1"/>
          </p:cNvSpPr>
          <p:nvPr/>
        </p:nvSpPr>
        <p:spPr>
          <a:xfrm>
            <a:off x="3419475" y="2590800"/>
            <a:ext cx="95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tool schema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C5EB5C-3873-4F76-80A1-4D4E371F8565}"/>
              </a:ext>
            </a:extLst>
          </p:cNvPr>
          <p:cNvSpPr>
            <a:spLocks noGrp="1"/>
          </p:cNvSpPr>
          <p:nvPr/>
        </p:nvSpPr>
        <p:spPr>
          <a:xfrm>
            <a:off x="4543425" y="2533650"/>
            <a:ext cx="1762125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mpt-block-label">
            <a:extLst>
              <a:ext uri="{FF2B5EF4-FFF2-40B4-BE49-F238E27FC236}">
                <a16:creationId xmlns:a16="http://schemas.microsoft.com/office/drawing/2014/main" id="{C38A8871-8F88-4B54-B894-4E1E8DCF154D}"/>
              </a:ext>
            </a:extLst>
          </p:cNvPr>
          <p:cNvSpPr>
            <a:spLocks noGrp="1"/>
          </p:cNvSpPr>
          <p:nvPr/>
        </p:nvSpPr>
        <p:spPr>
          <a:xfrm>
            <a:off x="4638675" y="259080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repo / docs context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43E98B-B087-4045-B3F1-3ABE723002EB}"/>
              </a:ext>
            </a:extLst>
          </p:cNvPr>
          <p:cNvSpPr>
            <a:spLocks noGrp="1"/>
          </p:cNvSpPr>
          <p:nvPr/>
        </p:nvSpPr>
        <p:spPr>
          <a:xfrm>
            <a:off x="6391275" y="2533650"/>
            <a:ext cx="104775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rompt-block-label">
            <a:extLst>
              <a:ext uri="{FF2B5EF4-FFF2-40B4-BE49-F238E27FC236}">
                <a16:creationId xmlns:a16="http://schemas.microsoft.com/office/drawing/2014/main" id="{BE9BA121-9111-469C-B6E7-25C855589085}"/>
              </a:ext>
            </a:extLst>
          </p:cNvPr>
          <p:cNvSpPr>
            <a:spLocks noGrp="1"/>
          </p:cNvSpPr>
          <p:nvPr/>
        </p:nvSpPr>
        <p:spPr>
          <a:xfrm>
            <a:off x="6486525" y="2590800"/>
            <a:ext cx="857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current ask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791790-011C-4E65-985E-A1ADD05A3AE4}"/>
              </a:ext>
            </a:extLst>
          </p:cNvPr>
          <p:cNvSpPr>
            <a:spLocks noGrp="1"/>
          </p:cNvSpPr>
          <p:nvPr/>
        </p:nvSpPr>
        <p:spPr>
          <a:xfrm>
            <a:off x="256693" y="3471426"/>
            <a:ext cx="732539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turn 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4FE9C7-1EB4-495B-98D9-A354E835EBAA}"/>
              </a:ext>
            </a:extLst>
          </p:cNvPr>
          <p:cNvSpPr>
            <a:spLocks noGrp="1"/>
          </p:cNvSpPr>
          <p:nvPr/>
        </p:nvSpPr>
        <p:spPr>
          <a:xfrm>
            <a:off x="1038225" y="3314700"/>
            <a:ext cx="87630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rompt-block-label">
            <a:extLst>
              <a:ext uri="{FF2B5EF4-FFF2-40B4-BE49-F238E27FC236}">
                <a16:creationId xmlns:a16="http://schemas.microsoft.com/office/drawing/2014/main" id="{92F73DAA-CAB4-4856-BAA2-D54CBBB2A680}"/>
              </a:ext>
            </a:extLst>
          </p:cNvPr>
          <p:cNvSpPr>
            <a:spLocks noGrp="1"/>
          </p:cNvSpPr>
          <p:nvPr/>
        </p:nvSpPr>
        <p:spPr>
          <a:xfrm>
            <a:off x="1133475" y="3371850"/>
            <a:ext cx="68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timestamp</a:t>
            </a:r>
          </a:p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request id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0778D0-2149-4FF6-AAA1-D05228442D5E}"/>
              </a:ext>
            </a:extLst>
          </p:cNvPr>
          <p:cNvSpPr>
            <a:spLocks noGrp="1"/>
          </p:cNvSpPr>
          <p:nvPr/>
        </p:nvSpPr>
        <p:spPr>
          <a:xfrm>
            <a:off x="1990725" y="3314700"/>
            <a:ext cx="12573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mpt-block-label">
            <a:extLst>
              <a:ext uri="{FF2B5EF4-FFF2-40B4-BE49-F238E27FC236}">
                <a16:creationId xmlns:a16="http://schemas.microsoft.com/office/drawing/2014/main" id="{D67AEB30-E2E9-4450-A948-43FA68D18BEB}"/>
              </a:ext>
            </a:extLst>
          </p:cNvPr>
          <p:cNvSpPr>
            <a:spLocks noGrp="1"/>
          </p:cNvSpPr>
          <p:nvPr/>
        </p:nvSpPr>
        <p:spPr>
          <a:xfrm>
            <a:off x="2085975" y="33718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system prompt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63B8CB-1D38-4765-AFB9-829C674B83B1}"/>
              </a:ext>
            </a:extLst>
          </p:cNvPr>
          <p:cNvSpPr>
            <a:spLocks noGrp="1"/>
          </p:cNvSpPr>
          <p:nvPr/>
        </p:nvSpPr>
        <p:spPr>
          <a:xfrm>
            <a:off x="3324225" y="3314700"/>
            <a:ext cx="11430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prompt-block-label">
            <a:extLst>
              <a:ext uri="{FF2B5EF4-FFF2-40B4-BE49-F238E27FC236}">
                <a16:creationId xmlns:a16="http://schemas.microsoft.com/office/drawing/2014/main" id="{4338CB1F-DBCA-421B-BB09-98401693CBDC}"/>
              </a:ext>
            </a:extLst>
          </p:cNvPr>
          <p:cNvSpPr>
            <a:spLocks noGrp="1"/>
          </p:cNvSpPr>
          <p:nvPr/>
        </p:nvSpPr>
        <p:spPr>
          <a:xfrm>
            <a:off x="3419475" y="3371850"/>
            <a:ext cx="95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tool schema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47C491-6FB3-49A1-8571-492A778446FB}"/>
              </a:ext>
            </a:extLst>
          </p:cNvPr>
          <p:cNvSpPr>
            <a:spLocks noGrp="1"/>
          </p:cNvSpPr>
          <p:nvPr/>
        </p:nvSpPr>
        <p:spPr>
          <a:xfrm>
            <a:off x="4543425" y="3314700"/>
            <a:ext cx="1762125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rompt-block-label">
            <a:extLst>
              <a:ext uri="{FF2B5EF4-FFF2-40B4-BE49-F238E27FC236}">
                <a16:creationId xmlns:a16="http://schemas.microsoft.com/office/drawing/2014/main" id="{987414DE-DD99-4DCE-9874-66873D599D01}"/>
              </a:ext>
            </a:extLst>
          </p:cNvPr>
          <p:cNvSpPr>
            <a:spLocks noGrp="1"/>
          </p:cNvSpPr>
          <p:nvPr/>
        </p:nvSpPr>
        <p:spPr>
          <a:xfrm>
            <a:off x="4638675" y="337185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repo / docs context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A84CA4-F318-4C10-9B06-22FAC7BA71DA}"/>
              </a:ext>
            </a:extLst>
          </p:cNvPr>
          <p:cNvSpPr>
            <a:spLocks noGrp="1"/>
          </p:cNvSpPr>
          <p:nvPr/>
        </p:nvSpPr>
        <p:spPr>
          <a:xfrm>
            <a:off x="6391275" y="3314700"/>
            <a:ext cx="104775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rompt-block-label">
            <a:extLst>
              <a:ext uri="{FF2B5EF4-FFF2-40B4-BE49-F238E27FC236}">
                <a16:creationId xmlns:a16="http://schemas.microsoft.com/office/drawing/2014/main" id="{889DE9EA-22B0-4D4D-8996-C2AAC6242A3C}"/>
              </a:ext>
            </a:extLst>
          </p:cNvPr>
          <p:cNvSpPr>
            <a:spLocks noGrp="1"/>
          </p:cNvSpPr>
          <p:nvPr/>
        </p:nvSpPr>
        <p:spPr>
          <a:xfrm>
            <a:off x="6486525" y="3371850"/>
            <a:ext cx="857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current ask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2B6034-2134-4E36-B17B-4A8F20043957}"/>
              </a:ext>
            </a:extLst>
          </p:cNvPr>
          <p:cNvSpPr>
            <a:spLocks noGrp="1"/>
          </p:cNvSpPr>
          <p:nvPr/>
        </p:nvSpPr>
        <p:spPr>
          <a:xfrm>
            <a:off x="256693" y="4252476"/>
            <a:ext cx="732539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turn 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E6AABB-5397-459A-B724-2075C28EE1BE}"/>
              </a:ext>
            </a:extLst>
          </p:cNvPr>
          <p:cNvSpPr>
            <a:spLocks noGrp="1"/>
          </p:cNvSpPr>
          <p:nvPr/>
        </p:nvSpPr>
        <p:spPr>
          <a:xfrm>
            <a:off x="1038225" y="4095750"/>
            <a:ext cx="87630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mpt-block-label">
            <a:extLst>
              <a:ext uri="{FF2B5EF4-FFF2-40B4-BE49-F238E27FC236}">
                <a16:creationId xmlns:a16="http://schemas.microsoft.com/office/drawing/2014/main" id="{4074DB5D-43B5-4D50-91E7-778634A22783}"/>
              </a:ext>
            </a:extLst>
          </p:cNvPr>
          <p:cNvSpPr>
            <a:spLocks noGrp="1"/>
          </p:cNvSpPr>
          <p:nvPr/>
        </p:nvSpPr>
        <p:spPr>
          <a:xfrm>
            <a:off x="1133475" y="4152900"/>
            <a:ext cx="685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timestamp</a:t>
            </a:r>
          </a:p>
          <a:p>
            <a:pPr algn="ctr">
              <a:lnSpc>
                <a:spcPct val="15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request id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13D7E1-1889-42AE-B09F-8F4B4048031B}"/>
              </a:ext>
            </a:extLst>
          </p:cNvPr>
          <p:cNvSpPr>
            <a:spLocks noGrp="1"/>
          </p:cNvSpPr>
          <p:nvPr/>
        </p:nvSpPr>
        <p:spPr>
          <a:xfrm>
            <a:off x="1990725" y="4095750"/>
            <a:ext cx="12573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mpt-block-label">
            <a:extLst>
              <a:ext uri="{FF2B5EF4-FFF2-40B4-BE49-F238E27FC236}">
                <a16:creationId xmlns:a16="http://schemas.microsoft.com/office/drawing/2014/main" id="{2AC34782-4BCD-4AA9-B77B-0D65E182BA3E}"/>
              </a:ext>
            </a:extLst>
          </p:cNvPr>
          <p:cNvSpPr>
            <a:spLocks noGrp="1"/>
          </p:cNvSpPr>
          <p:nvPr/>
        </p:nvSpPr>
        <p:spPr>
          <a:xfrm>
            <a:off x="2085975" y="41529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system prompt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F05CBD5-6C88-4255-8F9D-021A590C7A07}"/>
              </a:ext>
            </a:extLst>
          </p:cNvPr>
          <p:cNvSpPr>
            <a:spLocks noGrp="1"/>
          </p:cNvSpPr>
          <p:nvPr/>
        </p:nvSpPr>
        <p:spPr>
          <a:xfrm>
            <a:off x="3324225" y="4095750"/>
            <a:ext cx="1143000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rompt-block-label">
            <a:extLst>
              <a:ext uri="{FF2B5EF4-FFF2-40B4-BE49-F238E27FC236}">
                <a16:creationId xmlns:a16="http://schemas.microsoft.com/office/drawing/2014/main" id="{8A794FE1-B3E4-496D-955C-B06800CC2A5D}"/>
              </a:ext>
            </a:extLst>
          </p:cNvPr>
          <p:cNvSpPr>
            <a:spLocks noGrp="1"/>
          </p:cNvSpPr>
          <p:nvPr/>
        </p:nvSpPr>
        <p:spPr>
          <a:xfrm>
            <a:off x="3419475" y="4152900"/>
            <a:ext cx="95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tool schema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805FF5-930D-4F71-AF63-5C36FB8CE0C1}"/>
              </a:ext>
            </a:extLst>
          </p:cNvPr>
          <p:cNvSpPr>
            <a:spLocks noGrp="1"/>
          </p:cNvSpPr>
          <p:nvPr/>
        </p:nvSpPr>
        <p:spPr>
          <a:xfrm>
            <a:off x="4543425" y="4095750"/>
            <a:ext cx="1762125" cy="5143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mpt-block-label">
            <a:extLst>
              <a:ext uri="{FF2B5EF4-FFF2-40B4-BE49-F238E27FC236}">
                <a16:creationId xmlns:a16="http://schemas.microsoft.com/office/drawing/2014/main" id="{456DF702-E4C3-4C3A-B084-FEA97C412EFA}"/>
              </a:ext>
            </a:extLst>
          </p:cNvPr>
          <p:cNvSpPr>
            <a:spLocks noGrp="1"/>
          </p:cNvSpPr>
          <p:nvPr/>
        </p:nvSpPr>
        <p:spPr>
          <a:xfrm>
            <a:off x="4638675" y="4152900"/>
            <a:ext cx="1571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repo / docs context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E3EDE69-A03A-4F34-BBE5-B75409902DE0}"/>
              </a:ext>
            </a:extLst>
          </p:cNvPr>
          <p:cNvSpPr>
            <a:spLocks noGrp="1"/>
          </p:cNvSpPr>
          <p:nvPr/>
        </p:nvSpPr>
        <p:spPr>
          <a:xfrm>
            <a:off x="6391275" y="4095750"/>
            <a:ext cx="1047750" cy="5143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rompt-block-label">
            <a:extLst>
              <a:ext uri="{FF2B5EF4-FFF2-40B4-BE49-F238E27FC236}">
                <a16:creationId xmlns:a16="http://schemas.microsoft.com/office/drawing/2014/main" id="{3D8B1FB9-DBC1-4C94-9799-B2D4DE9FF3FD}"/>
              </a:ext>
            </a:extLst>
          </p:cNvPr>
          <p:cNvSpPr>
            <a:spLocks noGrp="1"/>
          </p:cNvSpPr>
          <p:nvPr/>
        </p:nvSpPr>
        <p:spPr>
          <a:xfrm>
            <a:off x="6486525" y="4152900"/>
            <a:ext cx="857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current ask</a:t>
            </a:r>
          </a:p>
        </p:txBody>
      </p:sp>
      <p:sp>
        <p:nvSpPr>
          <p:cNvPr id="40" name="callout-rule">
            <a:extLst>
              <a:ext uri="{FF2B5EF4-FFF2-40B4-BE49-F238E27FC236}">
                <a16:creationId xmlns:a16="http://schemas.microsoft.com/office/drawing/2014/main" id="{BDD3ECC5-7D4B-4D5F-9F31-EE6FC8BE10F8}"/>
              </a:ext>
            </a:extLst>
          </p:cNvPr>
          <p:cNvSpPr>
            <a:spLocks noGrp="1"/>
          </p:cNvSpPr>
          <p:nvPr/>
        </p:nvSpPr>
        <p:spPr>
          <a:xfrm>
            <a:off x="352424" y="5000625"/>
            <a:ext cx="45719" cy="55245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callout-text">
            <a:extLst>
              <a:ext uri="{FF2B5EF4-FFF2-40B4-BE49-F238E27FC236}">
                <a16:creationId xmlns:a16="http://schemas.microsoft.com/office/drawing/2014/main" id="{FDDDA110-5D45-4FDE-9951-358C86148B34}"/>
              </a:ext>
            </a:extLst>
          </p:cNvPr>
          <p:cNvSpPr>
            <a:spLocks noGrp="1"/>
          </p:cNvSpPr>
          <p:nvPr/>
        </p:nvSpPr>
        <p:spPr>
          <a:xfrm>
            <a:off x="504824" y="4986338"/>
            <a:ext cx="7537740" cy="5286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如果开头字段每轮变化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后面的大段稳定内容也</a:t>
            </a:r>
            <a:r>
              <a:rPr sz="1600" b="1" i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无法</a:t>
            </a:r>
            <a:r>
              <a:rPr lang="zh-CN" altLang="en-US" sz="1600" b="1" i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成为同一条可命中的公共前缀</a:t>
            </a:r>
            <a:endParaRPr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F2A9BE7-2896-4E02-B726-B23E21E6F0D9}"/>
              </a:ext>
            </a:extLst>
          </p:cNvPr>
          <p:cNvSpPr>
            <a:spLocks noGrp="1"/>
          </p:cNvSpPr>
          <p:nvPr/>
        </p:nvSpPr>
        <p:spPr>
          <a:xfrm>
            <a:off x="7820025" y="1985962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172023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S0 warm TTFT ramp (Coding)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448DB79-BC83-461B-9261-5D7ACEACA3FB}"/>
              </a:ext>
            </a:extLst>
          </p:cNvPr>
          <p:cNvSpPr>
            <a:spLocks noGrp="1"/>
          </p:cNvSpPr>
          <p:nvPr/>
        </p:nvSpPr>
        <p:spPr>
          <a:xfrm>
            <a:off x="7820025" y="2490787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2K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84A529F-44D2-483F-99AA-712BA9D6D386}"/>
              </a:ext>
            </a:extLst>
          </p:cNvPr>
          <p:cNvSpPr>
            <a:spLocks noGrp="1"/>
          </p:cNvSpPr>
          <p:nvPr/>
        </p:nvSpPr>
        <p:spPr>
          <a:xfrm>
            <a:off x="8401050" y="2538412"/>
            <a:ext cx="2476500" cy="952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586CFA8-B30C-4334-88AC-AB43BB84754E}"/>
              </a:ext>
            </a:extLst>
          </p:cNvPr>
          <p:cNvSpPr>
            <a:spLocks noGrp="1"/>
          </p:cNvSpPr>
          <p:nvPr/>
        </p:nvSpPr>
        <p:spPr>
          <a:xfrm>
            <a:off x="8401050" y="2538412"/>
            <a:ext cx="114026" cy="95250"/>
          </a:xfrm>
          <a:prstGeom prst="rect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620BE58-6DFD-4314-8335-06ADB3B6210F}"/>
              </a:ext>
            </a:extLst>
          </p:cNvPr>
          <p:cNvSpPr>
            <a:spLocks noGrp="1"/>
          </p:cNvSpPr>
          <p:nvPr/>
        </p:nvSpPr>
        <p:spPr>
          <a:xfrm>
            <a:off x="10963275" y="2490787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1.724s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3718B7E-5C69-4C49-9DD5-82061F86E58F}"/>
              </a:ext>
            </a:extLst>
          </p:cNvPr>
          <p:cNvSpPr>
            <a:spLocks noGrp="1"/>
          </p:cNvSpPr>
          <p:nvPr/>
        </p:nvSpPr>
        <p:spPr>
          <a:xfrm>
            <a:off x="7820025" y="2976562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4K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85439CC-C6EA-4A2B-8C81-13722067E7E5}"/>
              </a:ext>
            </a:extLst>
          </p:cNvPr>
          <p:cNvSpPr>
            <a:spLocks noGrp="1"/>
          </p:cNvSpPr>
          <p:nvPr/>
        </p:nvSpPr>
        <p:spPr>
          <a:xfrm>
            <a:off x="8401050" y="3024187"/>
            <a:ext cx="2476500" cy="952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33308DE-B9FA-48C7-8690-3812FCA3C95D}"/>
              </a:ext>
            </a:extLst>
          </p:cNvPr>
          <p:cNvSpPr>
            <a:spLocks noGrp="1"/>
          </p:cNvSpPr>
          <p:nvPr/>
        </p:nvSpPr>
        <p:spPr>
          <a:xfrm>
            <a:off x="8401050" y="3024187"/>
            <a:ext cx="285661" cy="95250"/>
          </a:xfrm>
          <a:prstGeom prst="rect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B6F654D-43DD-4663-8D71-0644BDACC567}"/>
              </a:ext>
            </a:extLst>
          </p:cNvPr>
          <p:cNvSpPr>
            <a:spLocks noGrp="1"/>
          </p:cNvSpPr>
          <p:nvPr/>
        </p:nvSpPr>
        <p:spPr>
          <a:xfrm>
            <a:off x="10963275" y="2976562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4.319s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A02C309-79AC-4DF8-8533-D45D842F367F}"/>
              </a:ext>
            </a:extLst>
          </p:cNvPr>
          <p:cNvSpPr>
            <a:spLocks noGrp="1"/>
          </p:cNvSpPr>
          <p:nvPr/>
        </p:nvSpPr>
        <p:spPr>
          <a:xfrm>
            <a:off x="7820025" y="3462337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8K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BC7DBB8-88F3-46B8-83CC-9212A428A0CA}"/>
              </a:ext>
            </a:extLst>
          </p:cNvPr>
          <p:cNvSpPr>
            <a:spLocks noGrp="1"/>
          </p:cNvSpPr>
          <p:nvPr/>
        </p:nvSpPr>
        <p:spPr>
          <a:xfrm>
            <a:off x="8401050" y="3509962"/>
            <a:ext cx="2476500" cy="952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0496DE-548F-40DA-96F0-2974ECE53DE9}"/>
              </a:ext>
            </a:extLst>
          </p:cNvPr>
          <p:cNvSpPr>
            <a:spLocks noGrp="1"/>
          </p:cNvSpPr>
          <p:nvPr/>
        </p:nvSpPr>
        <p:spPr>
          <a:xfrm>
            <a:off x="8401050" y="3509962"/>
            <a:ext cx="771265" cy="95250"/>
          </a:xfrm>
          <a:prstGeom prst="rect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03FE74C-736D-4F5D-ABC4-6530A3EEAA82}"/>
              </a:ext>
            </a:extLst>
          </p:cNvPr>
          <p:cNvSpPr>
            <a:spLocks noGrp="1"/>
          </p:cNvSpPr>
          <p:nvPr/>
        </p:nvSpPr>
        <p:spPr>
          <a:xfrm>
            <a:off x="10963275" y="3462337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11.661s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D065ECF-ADC0-4BCE-B328-C8714C9CD464}"/>
              </a:ext>
            </a:extLst>
          </p:cNvPr>
          <p:cNvSpPr>
            <a:spLocks noGrp="1"/>
          </p:cNvSpPr>
          <p:nvPr/>
        </p:nvSpPr>
        <p:spPr>
          <a:xfrm>
            <a:off x="7820025" y="3948112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16K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863E52F-F0A2-4A2F-80C1-43A1B209BC70}"/>
              </a:ext>
            </a:extLst>
          </p:cNvPr>
          <p:cNvSpPr>
            <a:spLocks noGrp="1"/>
          </p:cNvSpPr>
          <p:nvPr/>
        </p:nvSpPr>
        <p:spPr>
          <a:xfrm>
            <a:off x="8401050" y="3995737"/>
            <a:ext cx="2476500" cy="952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9AB1426-FB9C-4E66-8BD7-62919D460CDF}"/>
              </a:ext>
            </a:extLst>
          </p:cNvPr>
          <p:cNvSpPr>
            <a:spLocks noGrp="1"/>
          </p:cNvSpPr>
          <p:nvPr/>
        </p:nvSpPr>
        <p:spPr>
          <a:xfrm>
            <a:off x="8401050" y="3995737"/>
            <a:ext cx="2476500" cy="95250"/>
          </a:xfrm>
          <a:prstGeom prst="rect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34A3896-FED4-4BBD-9C98-2BEE5FBB6D3B}"/>
              </a:ext>
            </a:extLst>
          </p:cNvPr>
          <p:cNvSpPr>
            <a:spLocks noGrp="1"/>
          </p:cNvSpPr>
          <p:nvPr/>
        </p:nvSpPr>
        <p:spPr>
          <a:xfrm>
            <a:off x="10963275" y="3948112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37.443s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0316271-EEDF-47D4-954C-47793E4E9785}"/>
              </a:ext>
            </a:extLst>
          </p:cNvPr>
          <p:cNvSpPr>
            <a:spLocks noGrp="1"/>
          </p:cNvSpPr>
          <p:nvPr/>
        </p:nvSpPr>
        <p:spPr>
          <a:xfrm>
            <a:off x="7740502" y="4676775"/>
            <a:ext cx="4451497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首</a:t>
            </a: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token </a:t>
            </a: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前的等待随</a:t>
            </a: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prompt </a:t>
            </a: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长度急剧上升</a:t>
            </a:r>
            <a:r>
              <a:rPr lang="zh-CN" altLang="en-US"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，</a:t>
            </a:r>
            <a:endParaRPr lang="en-US" altLang="zh-CN" sz="1400" b="1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l">
              <a:lnSpc>
                <a:spcPct val="150000"/>
              </a:lnSpc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在</a:t>
            </a: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16K Coding </a:t>
            </a: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中，TTFT</a:t>
            </a:r>
            <a:r>
              <a:rPr sz="1400" b="1" dirty="0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已经占总延迟的绝大部分</a:t>
            </a:r>
            <a:endParaRPr sz="1400" b="1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61" name="footer-page">
            <a:extLst>
              <a:ext uri="{FF2B5EF4-FFF2-40B4-BE49-F238E27FC236}">
                <a16:creationId xmlns:a16="http://schemas.microsoft.com/office/drawing/2014/main" id="{A0F53E94-259B-47F9-8440-FD0B4E09EBAC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479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ackground">
            <a:extLst>
              <a:ext uri="{FF2B5EF4-FFF2-40B4-BE49-F238E27FC236}">
                <a16:creationId xmlns:a16="http://schemas.microsoft.com/office/drawing/2014/main" id="{AB3A0568-8E33-47DB-977C-0421E42843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BF29F2ED-4F09-49FB-9B4D-C8A6086DE05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BB6AB55B-641A-4C1D-81BA-26C91FB3E16E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2A8F0C9E-ABAA-4D88-B27A-A0DB44474E99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MECHANISM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128ADBCE-2091-45E9-8170-0C3BE39E92A0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9525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缓存收益来自可复用前缀</a:t>
            </a: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开关本身不等于命中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A2403D-CEAF-4E01-B992-A519FDEB3E53}"/>
              </a:ext>
            </a:extLst>
          </p:cNvPr>
          <p:cNvSpPr>
            <a:spLocks noGrp="1"/>
          </p:cNvSpPr>
          <p:nvPr/>
        </p:nvSpPr>
        <p:spPr>
          <a:xfrm>
            <a:off x="514350" y="1957174"/>
            <a:ext cx="5782541" cy="2585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82F1F1-DCF8-40D5-97E9-18611FA26CB3}"/>
              </a:ext>
            </a:extLst>
          </p:cNvPr>
          <p:cNvSpPr>
            <a:spLocks noGrp="1"/>
          </p:cNvSpPr>
          <p:nvPr/>
        </p:nvSpPr>
        <p:spPr>
          <a:xfrm>
            <a:off x="763415" y="3741062"/>
            <a:ext cx="4286250" cy="61281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125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长上下文差异主要来自</a:t>
            </a:r>
            <a:r>
              <a:rPr sz="1125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sz="1125" b="1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prefill</a:t>
            </a:r>
            <a:endParaRPr lang="en-US" sz="1125" b="1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能复用多少前缀，就少算多少</a:t>
            </a:r>
            <a:r>
              <a:rPr sz="1125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rPr>
              <a:t> token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90CC49A-5100-4A9A-8236-29C4A17662F5}"/>
              </a:ext>
            </a:extLst>
          </p:cNvPr>
          <p:cNvSpPr>
            <a:spLocks noGrp="1"/>
          </p:cNvSpPr>
          <p:nvPr/>
        </p:nvSpPr>
        <p:spPr>
          <a:xfrm>
            <a:off x="6859414" y="1871657"/>
            <a:ext cx="3884786" cy="3456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B3B"/>
                </a:solidFill>
                <a:latin typeface="Menlo"/>
                <a:ea typeface="Menlo"/>
                <a:cs typeface="Menlo"/>
              </a:defRPr>
            </a:pPr>
            <a:r>
              <a:rPr sz="1900" b="1" dirty="0">
                <a:solidFill>
                  <a:srgbClr val="A33B3B"/>
                </a:solidFill>
                <a:latin typeface="Menlo"/>
                <a:ea typeface="Menlo"/>
                <a:cs typeface="Menlo"/>
              </a:rPr>
              <a:t>S1: volatile field first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959EC8-8335-49AE-A241-C05CA51F0A7D}"/>
              </a:ext>
            </a:extLst>
          </p:cNvPr>
          <p:cNvSpPr>
            <a:spLocks noGrp="1"/>
          </p:cNvSpPr>
          <p:nvPr/>
        </p:nvSpPr>
        <p:spPr>
          <a:xfrm>
            <a:off x="6859414" y="2217294"/>
            <a:ext cx="1095375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mpt-block-label">
            <a:extLst>
              <a:ext uri="{FF2B5EF4-FFF2-40B4-BE49-F238E27FC236}">
                <a16:creationId xmlns:a16="http://schemas.microsoft.com/office/drawing/2014/main" id="{ED7516AF-8D55-4572-B13D-349CC952955C}"/>
              </a:ext>
            </a:extLst>
          </p:cNvPr>
          <p:cNvSpPr>
            <a:spLocks noGrp="1"/>
          </p:cNvSpPr>
          <p:nvPr/>
        </p:nvSpPr>
        <p:spPr>
          <a:xfrm>
            <a:off x="6954664" y="2274444"/>
            <a:ext cx="904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dynamic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AEEF86-606E-41F0-9F18-D7141BEC6AFB}"/>
              </a:ext>
            </a:extLst>
          </p:cNvPr>
          <p:cNvSpPr>
            <a:spLocks noGrp="1"/>
          </p:cNvSpPr>
          <p:nvPr/>
        </p:nvSpPr>
        <p:spPr>
          <a:xfrm>
            <a:off x="8021464" y="2217294"/>
            <a:ext cx="3352800" cy="4381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rompt-block-label">
            <a:extLst>
              <a:ext uri="{FF2B5EF4-FFF2-40B4-BE49-F238E27FC236}">
                <a16:creationId xmlns:a16="http://schemas.microsoft.com/office/drawing/2014/main" id="{BBF37764-5D8E-4C95-9EE5-CDD4A8D05FCF}"/>
              </a:ext>
            </a:extLst>
          </p:cNvPr>
          <p:cNvSpPr>
            <a:spLocks noGrp="1"/>
          </p:cNvSpPr>
          <p:nvPr/>
        </p:nvSpPr>
        <p:spPr>
          <a:xfrm>
            <a:off x="8116714" y="2274444"/>
            <a:ext cx="3162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stable context </a:t>
            </a:r>
            <a:endParaRPr lang="en-US" sz="1200" b="1" dirty="0">
              <a:solidFill>
                <a:srgbClr val="172023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cannot be matched as prefix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F394389-82E6-457D-838A-FEC11DBD1D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82771" y="2755510"/>
                <a:ext cx="1272020" cy="302996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975" b="1">
                    <a:solidFill>
                      <a:srgbClr val="A33B3B"/>
                    </a:solidFill>
                    <a:latin typeface="Menlo"/>
                    <a:ea typeface="Menlo"/>
                    <a:cs typeface="Menl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altLang="zh-CN" sz="1600" b="1" i="1" smtClean="0">
                              <a:solidFill>
                                <a:srgbClr val="A33B3B"/>
                              </a:solidFill>
                              <a:latin typeface="Cambria Math" panose="02040503050406030204" pitchFamily="18" charset="0"/>
                              <a:ea typeface="Menlo"/>
                              <a:cs typeface="Menlo"/>
                            </a:rPr>
                          </m:ctrlPr>
                        </m:sSubPr>
                        <m:e>
                          <m:r>
                            <a:rPr lang="en" altLang="zh-CN" sz="1600" b="1" i="1">
                              <a:solidFill>
                                <a:srgbClr val="A33B3B"/>
                              </a:solidFill>
                              <a:latin typeface="Cambria Math" panose="02040503050406030204" pitchFamily="18" charset="0"/>
                              <a:ea typeface="Menlo"/>
                              <a:cs typeface="Menlo"/>
                            </a:rPr>
                            <m:t>𝑳</m:t>
                          </m:r>
                        </m:e>
                        <m:sub>
                          <m:r>
                            <a:rPr lang="en" altLang="zh-CN" sz="1600" b="1" i="1">
                              <a:solidFill>
                                <a:srgbClr val="A33B3B"/>
                              </a:solidFill>
                              <a:latin typeface="Cambria Math" panose="02040503050406030204" pitchFamily="18" charset="0"/>
                              <a:ea typeface="Menlo"/>
                              <a:cs typeface="Menlo"/>
                            </a:rPr>
                            <m:t>𝒓𝒆𝒖𝒔𝒆</m:t>
                          </m:r>
                        </m:sub>
                      </m:sSub>
                      <m:r>
                        <a:rPr lang="en" altLang="zh-CN" sz="1600" b="1" i="1">
                          <a:solidFill>
                            <a:srgbClr val="A33B3B"/>
                          </a:solidFill>
                          <a:latin typeface="Cambria Math" panose="02040503050406030204" pitchFamily="18" charset="0"/>
                          <a:ea typeface="Menlo"/>
                          <a:cs typeface="Menlo"/>
                        </a:rPr>
                        <m:t>≈</m:t>
                      </m:r>
                      <m:r>
                        <a:rPr lang="en" altLang="zh-CN" sz="1600" b="1" i="1">
                          <a:solidFill>
                            <a:srgbClr val="A33B3B"/>
                          </a:solidFill>
                          <a:latin typeface="Cambria Math" panose="02040503050406030204" pitchFamily="18" charset="0"/>
                          <a:ea typeface="Menlo"/>
                          <a:cs typeface="Menlo"/>
                        </a:rPr>
                        <m:t>𝟎</m:t>
                      </m:r>
                    </m:oMath>
                  </m:oMathPara>
                </a14:m>
                <a:endParaRPr lang="en" altLang="zh-CN" sz="1600" b="1" dirty="0">
                  <a:solidFill>
                    <a:srgbClr val="A33B3B"/>
                  </a:solidFill>
                  <a:latin typeface="Menlo"/>
                  <a:ea typeface="Menlo"/>
                  <a:cs typeface="Menlo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F394389-82E6-457D-838A-FEC11DBD1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771" y="2755510"/>
                <a:ext cx="1272020" cy="302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ule">
            <a:extLst>
              <a:ext uri="{FF2B5EF4-FFF2-40B4-BE49-F238E27FC236}">
                <a16:creationId xmlns:a16="http://schemas.microsoft.com/office/drawing/2014/main" id="{E9C45E4B-5816-4E83-AC70-453BDD5B9A30}"/>
              </a:ext>
            </a:extLst>
          </p:cNvPr>
          <p:cNvSpPr>
            <a:spLocks noGrp="1"/>
          </p:cNvSpPr>
          <p:nvPr/>
        </p:nvSpPr>
        <p:spPr>
          <a:xfrm>
            <a:off x="6859414" y="3209278"/>
            <a:ext cx="45720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C85374-B27F-4271-9413-6DAC71F0BA50}"/>
              </a:ext>
            </a:extLst>
          </p:cNvPr>
          <p:cNvSpPr>
            <a:spLocks noGrp="1"/>
          </p:cNvSpPr>
          <p:nvPr/>
        </p:nvSpPr>
        <p:spPr>
          <a:xfrm>
            <a:off x="6859413" y="3441804"/>
            <a:ext cx="3625013" cy="3456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7A5B"/>
                </a:solidFill>
                <a:latin typeface="Menlo"/>
                <a:ea typeface="Menlo"/>
                <a:cs typeface="Menlo"/>
              </a:defRPr>
            </a:pPr>
            <a:r>
              <a:rPr sz="1900" b="1" dirty="0">
                <a:solidFill>
                  <a:srgbClr val="0B7A5B"/>
                </a:solidFill>
                <a:latin typeface="Menlo"/>
                <a:ea typeface="Menlo"/>
                <a:cs typeface="Menlo"/>
              </a:rPr>
              <a:t>S2: stable prefix first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3CB391-BE39-4D6F-98E8-415F0BFF3CEA}"/>
              </a:ext>
            </a:extLst>
          </p:cNvPr>
          <p:cNvSpPr>
            <a:spLocks noGrp="1"/>
          </p:cNvSpPr>
          <p:nvPr/>
        </p:nvSpPr>
        <p:spPr>
          <a:xfrm>
            <a:off x="6859414" y="3770295"/>
            <a:ext cx="3222914" cy="4381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rompt-block-label">
            <a:extLst>
              <a:ext uri="{FF2B5EF4-FFF2-40B4-BE49-F238E27FC236}">
                <a16:creationId xmlns:a16="http://schemas.microsoft.com/office/drawing/2014/main" id="{9AD78609-ACF8-4EF3-B9FA-151FAA891C89}"/>
              </a:ext>
            </a:extLst>
          </p:cNvPr>
          <p:cNvSpPr>
            <a:spLocks noGrp="1"/>
          </p:cNvSpPr>
          <p:nvPr/>
        </p:nvSpPr>
        <p:spPr>
          <a:xfrm>
            <a:off x="6954664" y="3827445"/>
            <a:ext cx="3352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reused stable prefix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664072-D476-4B8A-B339-1CC66EFAEFA7}"/>
              </a:ext>
            </a:extLst>
          </p:cNvPr>
          <p:cNvSpPr>
            <a:spLocks noGrp="1"/>
          </p:cNvSpPr>
          <p:nvPr/>
        </p:nvSpPr>
        <p:spPr>
          <a:xfrm>
            <a:off x="10177578" y="3770295"/>
            <a:ext cx="1196686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rompt-block-label">
            <a:extLst>
              <a:ext uri="{FF2B5EF4-FFF2-40B4-BE49-F238E27FC236}">
                <a16:creationId xmlns:a16="http://schemas.microsoft.com/office/drawing/2014/main" id="{4E5834E8-D61A-4C99-B6A4-1B91A762DC04}"/>
              </a:ext>
            </a:extLst>
          </p:cNvPr>
          <p:cNvSpPr>
            <a:spLocks noGrp="1"/>
          </p:cNvSpPr>
          <p:nvPr/>
        </p:nvSpPr>
        <p:spPr>
          <a:xfrm>
            <a:off x="10177578" y="3827445"/>
            <a:ext cx="1196686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5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new suffix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E9F49D-1A9E-407B-9F33-06B2465B60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859413" y="4313219"/>
                <a:ext cx="3521105" cy="500057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 algn="l">
                  <a:defRPr sz="1200" b="1">
                    <a:solidFill>
                      <a:srgbClr val="0B7A5B"/>
                    </a:solidFill>
                    <a:latin typeface="Menlo"/>
                    <a:ea typeface="Menlo"/>
                    <a:cs typeface="Menlo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B7A5B"/>
                            </a:solidFill>
                            <a:latin typeface="Cambria Math" panose="02040503050406030204" pitchFamily="18" charset="0"/>
                            <a:ea typeface="Menlo"/>
                            <a:cs typeface="Menlo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B7A5B"/>
                            </a:solidFill>
                            <a:latin typeface="Cambria Math" panose="02040503050406030204" pitchFamily="18" charset="0"/>
                            <a:ea typeface="Menlo"/>
                            <a:cs typeface="Menlo"/>
                          </a:rPr>
                          <m:t>𝑳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B7A5B"/>
                            </a:solidFill>
                            <a:latin typeface="Cambria Math" panose="02040503050406030204" pitchFamily="18" charset="0"/>
                            <a:ea typeface="Menlo"/>
                            <a:cs typeface="Menlo"/>
                          </a:rPr>
                          <m:t>𝒏𝒆𝒘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0B7A5B"/>
                    </a:solidFill>
                    <a:latin typeface="Menlo"/>
                    <a:ea typeface="Menlo"/>
                    <a:cs typeface="Menlo"/>
                  </a:rPr>
                  <a:t> </a:t>
                </a:r>
                <a:r>
                  <a:rPr sz="1600" b="1" dirty="0">
                    <a:solidFill>
                      <a:srgbClr val="0B7A5B"/>
                    </a:solidFill>
                    <a:latin typeface="Menlo"/>
                    <a:ea typeface="Menlo"/>
                    <a:cs typeface="Menlo"/>
                  </a:rPr>
                  <a:t>stays small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E9F49D-1A9E-407B-9F33-06B2465B6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413" y="4313219"/>
                <a:ext cx="3521105" cy="500057"/>
              </a:xfrm>
              <a:prstGeom prst="rect">
                <a:avLst/>
              </a:prstGeom>
              <a:blipFill>
                <a:blip r:embed="rId4"/>
                <a:stretch>
                  <a:fillRect l="-2158" t="-12195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1799D587-DD50-4C43-8687-A036BA143822}"/>
              </a:ext>
            </a:extLst>
          </p:cNvPr>
          <p:cNvSpPr>
            <a:spLocks noGrp="1"/>
          </p:cNvSpPr>
          <p:nvPr/>
        </p:nvSpPr>
        <p:spPr>
          <a:xfrm>
            <a:off x="900229" y="2759690"/>
            <a:ext cx="1371600" cy="40005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mpt-block-label">
            <a:extLst>
              <a:ext uri="{FF2B5EF4-FFF2-40B4-BE49-F238E27FC236}">
                <a16:creationId xmlns:a16="http://schemas.microsoft.com/office/drawing/2014/main" id="{4E1EC5C1-26B0-490B-A79A-D7CE55427113}"/>
              </a:ext>
            </a:extLst>
          </p:cNvPr>
          <p:cNvSpPr>
            <a:spLocks noGrp="1"/>
          </p:cNvSpPr>
          <p:nvPr/>
        </p:nvSpPr>
        <p:spPr>
          <a:xfrm>
            <a:off x="995479" y="2816840"/>
            <a:ext cx="1181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prefill(L_new)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E5193D-13AF-4246-ACBE-2D1286AD9082}"/>
              </a:ext>
            </a:extLst>
          </p:cNvPr>
          <p:cNvSpPr>
            <a:spLocks noGrp="1"/>
          </p:cNvSpPr>
          <p:nvPr/>
        </p:nvSpPr>
        <p:spPr>
          <a:xfrm>
            <a:off x="2443279" y="2740640"/>
            <a:ext cx="228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+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523A1A-2716-478A-AC10-8DB7315F5A33}"/>
              </a:ext>
            </a:extLst>
          </p:cNvPr>
          <p:cNvSpPr>
            <a:spLocks noGrp="1"/>
          </p:cNvSpPr>
          <p:nvPr/>
        </p:nvSpPr>
        <p:spPr>
          <a:xfrm>
            <a:off x="2805229" y="2759690"/>
            <a:ext cx="1238250" cy="4000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rompt-block-label">
            <a:extLst>
              <a:ext uri="{FF2B5EF4-FFF2-40B4-BE49-F238E27FC236}">
                <a16:creationId xmlns:a16="http://schemas.microsoft.com/office/drawing/2014/main" id="{E37E080E-2E8F-4F3A-84ED-E6FD945C302E}"/>
              </a:ext>
            </a:extLst>
          </p:cNvPr>
          <p:cNvSpPr>
            <a:spLocks noGrp="1"/>
          </p:cNvSpPr>
          <p:nvPr/>
        </p:nvSpPr>
        <p:spPr>
          <a:xfrm>
            <a:off x="2805229" y="281684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5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decode step 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6C9C01-39F2-49AA-92E3-B64AA099AB7B}"/>
              </a:ext>
            </a:extLst>
          </p:cNvPr>
          <p:cNvSpPr>
            <a:spLocks noGrp="1"/>
          </p:cNvSpPr>
          <p:nvPr/>
        </p:nvSpPr>
        <p:spPr>
          <a:xfrm>
            <a:off x="4138729" y="2740640"/>
            <a:ext cx="228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+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46DBB4-BDA5-4E2F-B863-99EA3BA7D5D6}"/>
              </a:ext>
            </a:extLst>
          </p:cNvPr>
          <p:cNvSpPr>
            <a:spLocks noGrp="1"/>
          </p:cNvSpPr>
          <p:nvPr/>
        </p:nvSpPr>
        <p:spPr>
          <a:xfrm>
            <a:off x="4481628" y="2759690"/>
            <a:ext cx="1452679" cy="4000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mpt-block-label">
            <a:extLst>
              <a:ext uri="{FF2B5EF4-FFF2-40B4-BE49-F238E27FC236}">
                <a16:creationId xmlns:a16="http://schemas.microsoft.com/office/drawing/2014/main" id="{CED7E249-DA0B-4550-B74D-60E7E1450EAD}"/>
              </a:ext>
            </a:extLst>
          </p:cNvPr>
          <p:cNvSpPr>
            <a:spLocks noGrp="1"/>
          </p:cNvSpPr>
          <p:nvPr/>
        </p:nvSpPr>
        <p:spPr>
          <a:xfrm>
            <a:off x="4481629" y="2816840"/>
            <a:ext cx="1452678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5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fixed overhead</a:t>
            </a:r>
          </a:p>
        </p:txBody>
      </p:sp>
      <p:sp>
        <p:nvSpPr>
          <p:cNvPr id="32" name="callout-rule">
            <a:extLst>
              <a:ext uri="{FF2B5EF4-FFF2-40B4-BE49-F238E27FC236}">
                <a16:creationId xmlns:a16="http://schemas.microsoft.com/office/drawing/2014/main" id="{3E3B34CA-6442-4781-9B6B-AC2655D250EC}"/>
              </a:ext>
            </a:extLst>
          </p:cNvPr>
          <p:cNvSpPr>
            <a:spLocks noGrp="1"/>
          </p:cNvSpPr>
          <p:nvPr/>
        </p:nvSpPr>
        <p:spPr>
          <a:xfrm>
            <a:off x="519863" y="4842070"/>
            <a:ext cx="38100" cy="59055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allout-text">
            <a:extLst>
              <a:ext uri="{FF2B5EF4-FFF2-40B4-BE49-F238E27FC236}">
                <a16:creationId xmlns:a16="http://schemas.microsoft.com/office/drawing/2014/main" id="{08378EB4-535D-4A34-BA7F-9B6DE6A789FB}"/>
              </a:ext>
            </a:extLst>
          </p:cNvPr>
          <p:cNvSpPr>
            <a:spLocks noGrp="1"/>
          </p:cNvSpPr>
          <p:nvPr/>
        </p:nvSpPr>
        <p:spPr>
          <a:xfrm>
            <a:off x="672262" y="4880170"/>
            <a:ext cx="7187277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系统指令、工具</a:t>
            </a:r>
            <a:r>
              <a:rPr lang="zh-CN" altLang="en-US"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定义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、</a:t>
            </a: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仓库摘要、固定文档</a:t>
            </a:r>
            <a:r>
              <a:rPr lang="zh-CN" altLang="en-US"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应</a:t>
            </a: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排在前面，并跨轮保持字节级稳定</a:t>
            </a:r>
            <a:endParaRPr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35" name="footer-page">
            <a:extLst>
              <a:ext uri="{FF2B5EF4-FFF2-40B4-BE49-F238E27FC236}">
                <a16:creationId xmlns:a16="http://schemas.microsoft.com/office/drawing/2014/main" id="{A8266CCC-BBB9-44AC-94BA-7C982744F4BE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D27BF6E-8357-8FC1-D6CE-7E332F957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170526"/>
            <a:ext cx="5229458" cy="42819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A338344-9AC4-BE2A-5FF5-B466BCEC3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229" y="3339375"/>
            <a:ext cx="1924050" cy="25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7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8FA8BC01-1256-4C9D-B42A-CABA3C65CD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08F519A1-B523-48D2-9E5F-A038EDA1093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0F969ED2-FF00-4C66-BCDE-D2ECB17583D8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56AF6041-C608-4A50-AB0F-3B2F1DD6B35C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EXPERIMENT DESIGN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393EF27A-FFAF-4A43-A48B-749EB30569C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9334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分别验证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缓存开关、prompt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布局和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reuse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参数</a:t>
            </a: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的影响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AF8EB8-F4D5-4E93-83EE-C52D7EFE3487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7181850" cy="3905250"/>
          </a:xfrm>
          <a:prstGeom prst="rect">
            <a:avLst/>
          </a:prstGeom>
          <a:solidFill>
            <a:srgbClr val="FEFCF7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24873C-6F66-4B93-94DB-C98C6CACF3E8}"/>
              </a:ext>
            </a:extLst>
          </p:cNvPr>
          <p:cNvSpPr>
            <a:spLocks noGrp="1"/>
          </p:cNvSpPr>
          <p:nvPr/>
        </p:nvSpPr>
        <p:spPr>
          <a:xfrm>
            <a:off x="886127" y="2000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6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S0-S3 strategy matrix</a:t>
            </a: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9DF97872-7EB1-4420-89B8-CF354D373EFA}"/>
              </a:ext>
            </a:extLst>
          </p:cNvPr>
          <p:cNvSpPr>
            <a:spLocks noGrp="1"/>
          </p:cNvSpPr>
          <p:nvPr/>
        </p:nvSpPr>
        <p:spPr>
          <a:xfrm>
            <a:off x="886127" y="2362200"/>
            <a:ext cx="657225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C0BDBE-AB7B-480D-B24E-69F1314E2A48}"/>
              </a:ext>
            </a:extLst>
          </p:cNvPr>
          <p:cNvSpPr>
            <a:spLocks noGrp="1"/>
          </p:cNvSpPr>
          <p:nvPr/>
        </p:nvSpPr>
        <p:spPr>
          <a:xfrm>
            <a:off x="886127" y="2590800"/>
            <a:ext cx="457200" cy="257175"/>
          </a:xfrm>
          <a:prstGeom prst="rect">
            <a:avLst/>
          </a:prstGeom>
          <a:solidFill>
            <a:srgbClr val="EECF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hip-text">
            <a:extLst>
              <a:ext uri="{FF2B5EF4-FFF2-40B4-BE49-F238E27FC236}">
                <a16:creationId xmlns:a16="http://schemas.microsoft.com/office/drawing/2014/main" id="{3A880F0D-4F18-407F-A8AA-41EF99951A37}"/>
              </a:ext>
            </a:extLst>
          </p:cNvPr>
          <p:cNvSpPr>
            <a:spLocks noGrp="1"/>
          </p:cNvSpPr>
          <p:nvPr/>
        </p:nvSpPr>
        <p:spPr>
          <a:xfrm>
            <a:off x="981377" y="2619375"/>
            <a:ext cx="2667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765BB4-1DEB-4CA4-8C50-F620284E19E0}"/>
              </a:ext>
            </a:extLst>
          </p:cNvPr>
          <p:cNvSpPr>
            <a:spLocks noGrp="1"/>
          </p:cNvSpPr>
          <p:nvPr/>
        </p:nvSpPr>
        <p:spPr>
          <a:xfrm>
            <a:off x="1533827" y="2590800"/>
            <a:ext cx="1717902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 dirty="0" err="1">
                <a:solidFill>
                  <a:srgbClr val="172023"/>
                </a:solidFill>
                <a:latin typeface="Menlo"/>
                <a:ea typeface="Menlo"/>
                <a:cs typeface="Menlo"/>
              </a:rPr>
              <a:t>no_cache</a:t>
            </a:r>
            <a:endParaRPr sz="1400" b="1" dirty="0">
              <a:solidFill>
                <a:srgbClr val="172023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533F18-789C-4F5F-B1C9-55466CEFD0ED}"/>
              </a:ext>
            </a:extLst>
          </p:cNvPr>
          <p:cNvSpPr>
            <a:spLocks noGrp="1"/>
          </p:cNvSpPr>
          <p:nvPr/>
        </p:nvSpPr>
        <p:spPr>
          <a:xfrm>
            <a:off x="3553127" y="2581275"/>
            <a:ext cx="3943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关闭缓存；完整上下文每轮重新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prefill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D776213F-B702-47B9-8FEC-808A2FC92E8B}"/>
              </a:ext>
            </a:extLst>
          </p:cNvPr>
          <p:cNvSpPr>
            <a:spLocks noGrp="1"/>
          </p:cNvSpPr>
          <p:nvPr/>
        </p:nvSpPr>
        <p:spPr>
          <a:xfrm>
            <a:off x="886127" y="3133725"/>
            <a:ext cx="657225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F17B91-672C-4B25-A63E-C8E63A50CD87}"/>
              </a:ext>
            </a:extLst>
          </p:cNvPr>
          <p:cNvSpPr>
            <a:spLocks noGrp="1"/>
          </p:cNvSpPr>
          <p:nvPr/>
        </p:nvSpPr>
        <p:spPr>
          <a:xfrm>
            <a:off x="886127" y="3314700"/>
            <a:ext cx="457200" cy="257175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chip-text">
            <a:extLst>
              <a:ext uri="{FF2B5EF4-FFF2-40B4-BE49-F238E27FC236}">
                <a16:creationId xmlns:a16="http://schemas.microsoft.com/office/drawing/2014/main" id="{6DAD88C6-20F2-4D58-A651-9767553A7226}"/>
              </a:ext>
            </a:extLst>
          </p:cNvPr>
          <p:cNvSpPr>
            <a:spLocks noGrp="1"/>
          </p:cNvSpPr>
          <p:nvPr/>
        </p:nvSpPr>
        <p:spPr>
          <a:xfrm>
            <a:off x="981377" y="3343275"/>
            <a:ext cx="2667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570E53-602C-429B-86FD-C4F39E878F1D}"/>
              </a:ext>
            </a:extLst>
          </p:cNvPr>
          <p:cNvSpPr>
            <a:spLocks noGrp="1"/>
          </p:cNvSpPr>
          <p:nvPr/>
        </p:nvSpPr>
        <p:spPr>
          <a:xfrm>
            <a:off x="1533827" y="3324224"/>
            <a:ext cx="1717902" cy="34148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default_cache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AD6848-CBBD-4FBD-B4C1-B57B4D4A9E42}"/>
              </a:ext>
            </a:extLst>
          </p:cNvPr>
          <p:cNvSpPr>
            <a:spLocks noGrp="1"/>
          </p:cNvSpPr>
          <p:nvPr/>
        </p:nvSpPr>
        <p:spPr>
          <a:xfrm>
            <a:off x="3553127" y="3305174"/>
            <a:ext cx="3943350" cy="51816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动态字段前置；缓存开启但公共前缀被破坏</a:t>
            </a:r>
            <a:endParaRPr sz="1400" b="0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9A1DB65F-31F6-4714-B27E-860423CD9380}"/>
              </a:ext>
            </a:extLst>
          </p:cNvPr>
          <p:cNvSpPr>
            <a:spLocks noGrp="1"/>
          </p:cNvSpPr>
          <p:nvPr/>
        </p:nvSpPr>
        <p:spPr>
          <a:xfrm>
            <a:off x="886127" y="3857625"/>
            <a:ext cx="657225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C37DDA-B127-4BF4-8DDC-0305D5BE771C}"/>
              </a:ext>
            </a:extLst>
          </p:cNvPr>
          <p:cNvSpPr>
            <a:spLocks noGrp="1"/>
          </p:cNvSpPr>
          <p:nvPr/>
        </p:nvSpPr>
        <p:spPr>
          <a:xfrm>
            <a:off x="886127" y="4038600"/>
            <a:ext cx="457200" cy="257175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chip-text">
            <a:extLst>
              <a:ext uri="{FF2B5EF4-FFF2-40B4-BE49-F238E27FC236}">
                <a16:creationId xmlns:a16="http://schemas.microsoft.com/office/drawing/2014/main" id="{0C5E45C3-5639-439E-8B9F-C41BFC344E00}"/>
              </a:ext>
            </a:extLst>
          </p:cNvPr>
          <p:cNvSpPr>
            <a:spLocks noGrp="1"/>
          </p:cNvSpPr>
          <p:nvPr/>
        </p:nvSpPr>
        <p:spPr>
          <a:xfrm>
            <a:off x="981377" y="4067175"/>
            <a:ext cx="2667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850759-AA25-4A61-9DE1-92EB7D097E98}"/>
              </a:ext>
            </a:extLst>
          </p:cNvPr>
          <p:cNvSpPr>
            <a:spLocks noGrp="1"/>
          </p:cNvSpPr>
          <p:nvPr/>
        </p:nvSpPr>
        <p:spPr>
          <a:xfrm>
            <a:off x="1533827" y="4048124"/>
            <a:ext cx="1717902" cy="34148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stable_prefix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B76CDE-2B26-4FB5-87E1-D1F8A578D0AD}"/>
              </a:ext>
            </a:extLst>
          </p:cNvPr>
          <p:cNvSpPr>
            <a:spLocks noGrp="1"/>
          </p:cNvSpPr>
          <p:nvPr/>
        </p:nvSpPr>
        <p:spPr>
          <a:xfrm>
            <a:off x="3553127" y="4048123"/>
            <a:ext cx="3943350" cy="3810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稳定内容前置、动态字段后置；主实验目标策略</a:t>
            </a:r>
            <a:endParaRPr sz="1400" b="0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6" name="rule">
            <a:extLst>
              <a:ext uri="{FF2B5EF4-FFF2-40B4-BE49-F238E27FC236}">
                <a16:creationId xmlns:a16="http://schemas.microsoft.com/office/drawing/2014/main" id="{92BF34F6-242F-46AA-AFBB-9317EB2E9103}"/>
              </a:ext>
            </a:extLst>
          </p:cNvPr>
          <p:cNvSpPr>
            <a:spLocks noGrp="1"/>
          </p:cNvSpPr>
          <p:nvPr/>
        </p:nvSpPr>
        <p:spPr>
          <a:xfrm>
            <a:off x="886127" y="4581525"/>
            <a:ext cx="657225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37778C6-910C-4C22-B83A-87693F5EA079}"/>
              </a:ext>
            </a:extLst>
          </p:cNvPr>
          <p:cNvSpPr>
            <a:spLocks noGrp="1"/>
          </p:cNvSpPr>
          <p:nvPr/>
        </p:nvSpPr>
        <p:spPr>
          <a:xfrm>
            <a:off x="886127" y="4762500"/>
            <a:ext cx="457200" cy="257175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chip-text">
            <a:extLst>
              <a:ext uri="{FF2B5EF4-FFF2-40B4-BE49-F238E27FC236}">
                <a16:creationId xmlns:a16="http://schemas.microsoft.com/office/drawing/2014/main" id="{D5A0A4EC-8299-4722-AEE5-A43F11CD7B55}"/>
              </a:ext>
            </a:extLst>
          </p:cNvPr>
          <p:cNvSpPr>
            <a:spLocks noGrp="1"/>
          </p:cNvSpPr>
          <p:nvPr/>
        </p:nvSpPr>
        <p:spPr>
          <a:xfrm>
            <a:off x="981377" y="4791075"/>
            <a:ext cx="2667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S3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1DF6AE-3AA2-4256-9FEE-6AE461CFD7B2}"/>
              </a:ext>
            </a:extLst>
          </p:cNvPr>
          <p:cNvSpPr>
            <a:spLocks noGrp="1"/>
          </p:cNvSpPr>
          <p:nvPr/>
        </p:nvSpPr>
        <p:spPr>
          <a:xfrm>
            <a:off x="1533827" y="4800599"/>
            <a:ext cx="1924050" cy="2949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cache-reuse sweep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35E5F1-FFD1-4F05-8B6B-25540D7B2114}"/>
              </a:ext>
            </a:extLst>
          </p:cNvPr>
          <p:cNvSpPr>
            <a:spLocks noGrp="1"/>
          </p:cNvSpPr>
          <p:nvPr/>
        </p:nvSpPr>
        <p:spPr>
          <a:xfrm>
            <a:off x="3553127" y="4800599"/>
            <a:ext cx="3943350" cy="3524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沿用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S2 </a:t>
            </a: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布局，扫描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N=0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64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128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256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lang="zh-CN" altLang="en-US"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512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25CDEC6-C689-4835-AC8D-28179FED850C}"/>
              </a:ext>
            </a:extLst>
          </p:cNvPr>
          <p:cNvSpPr>
            <a:spLocks noGrp="1"/>
          </p:cNvSpPr>
          <p:nvPr/>
        </p:nvSpPr>
        <p:spPr>
          <a:xfrm>
            <a:off x="8296375" y="1619250"/>
            <a:ext cx="3428799" cy="3905250"/>
          </a:xfrm>
          <a:prstGeom prst="rect">
            <a:avLst/>
          </a:prstGeom>
          <a:solidFill>
            <a:srgbClr val="172023"/>
          </a:solidFill>
          <a:ln w="9525">
            <a:solidFill>
              <a:srgbClr val="172023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AF49077-94BA-4A3E-AA8D-5AF834BCCBBA}"/>
              </a:ext>
            </a:extLst>
          </p:cNvPr>
          <p:cNvSpPr>
            <a:spLocks noGrp="1"/>
          </p:cNvSpPr>
          <p:nvPr/>
        </p:nvSpPr>
        <p:spPr>
          <a:xfrm>
            <a:off x="8563076" y="1885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4EA"/>
                </a:solidFill>
                <a:latin typeface="Menlo"/>
                <a:ea typeface="Menlo"/>
                <a:cs typeface="Menlo"/>
              </a:defRPr>
            </a:pPr>
            <a:r>
              <a:rPr sz="1600" b="1" dirty="0">
                <a:solidFill>
                  <a:srgbClr val="F7F4EA"/>
                </a:solidFill>
                <a:latin typeface="Menlo"/>
                <a:ea typeface="Menlo"/>
                <a:cs typeface="Menlo"/>
              </a:rPr>
              <a:t>fixed environment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3460EAE-E320-42B4-8082-00BEC9EFA886}"/>
              </a:ext>
            </a:extLst>
          </p:cNvPr>
          <p:cNvSpPr>
            <a:spLocks noGrp="1"/>
          </p:cNvSpPr>
          <p:nvPr/>
        </p:nvSpPr>
        <p:spPr>
          <a:xfrm>
            <a:off x="8563075" y="23622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 dirty="0" err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硬件</a:t>
            </a:r>
            <a:endParaRPr sz="1100" b="1" dirty="0">
              <a:solidFill>
                <a:srgbClr val="B9C4BD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365FEF-C5D9-4DBF-A790-862340342FFB}"/>
              </a:ext>
            </a:extLst>
          </p:cNvPr>
          <p:cNvSpPr>
            <a:spLocks noGrp="1"/>
          </p:cNvSpPr>
          <p:nvPr/>
        </p:nvSpPr>
        <p:spPr>
          <a:xfrm>
            <a:off x="9068001" y="2343150"/>
            <a:ext cx="2495349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Apple M5</a:t>
            </a:r>
            <a:r>
              <a:rPr 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 </a:t>
            </a: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32 GB unified memory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A038E2-BEB1-49EE-A889-9620FD352E11}"/>
              </a:ext>
            </a:extLst>
          </p:cNvPr>
          <p:cNvSpPr>
            <a:spLocks noGrp="1"/>
          </p:cNvSpPr>
          <p:nvPr/>
        </p:nvSpPr>
        <p:spPr>
          <a:xfrm>
            <a:off x="8563075" y="28194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模型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0EAEAC-AB61-4B8E-A14E-3825021F33A2}"/>
              </a:ext>
            </a:extLst>
          </p:cNvPr>
          <p:cNvSpPr>
            <a:spLocks noGrp="1"/>
          </p:cNvSpPr>
          <p:nvPr/>
        </p:nvSpPr>
        <p:spPr>
          <a:xfrm>
            <a:off x="9068002" y="2800350"/>
            <a:ext cx="2495348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Qwen2.5-Coder-3B-Instruct Q4_K_M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8630D10-B920-41FA-B7AC-0B5772F36356}"/>
              </a:ext>
            </a:extLst>
          </p:cNvPr>
          <p:cNvSpPr>
            <a:spLocks noGrp="1"/>
          </p:cNvSpPr>
          <p:nvPr/>
        </p:nvSpPr>
        <p:spPr>
          <a:xfrm>
            <a:off x="8563075" y="32766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后端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630D27C-D420-4AEE-8ECE-718A77F162E6}"/>
              </a:ext>
            </a:extLst>
          </p:cNvPr>
          <p:cNvSpPr>
            <a:spLocks noGrp="1"/>
          </p:cNvSpPr>
          <p:nvPr/>
        </p:nvSpPr>
        <p:spPr>
          <a:xfrm>
            <a:off x="9068002" y="3200400"/>
            <a:ext cx="2495348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llama-server</a:t>
            </a:r>
            <a:r>
              <a:rPr 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,</a:t>
            </a:r>
            <a:r>
              <a:rPr lang="zh-CN" alt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 </a:t>
            </a:r>
            <a:endParaRPr lang="en-US" altLang="zh-CN" sz="1200" b="1" dirty="0">
              <a:solidFill>
                <a:srgbClr val="F7F4EA"/>
              </a:solidFill>
              <a:latin typeface="Calibri" panose="020F0502020204030204" pitchFamily="34" charset="0"/>
              <a:ea typeface="Hiragino Sans GB"/>
              <a:cs typeface="Calibri" panose="020F0502020204030204" pitchFamily="34" charset="0"/>
            </a:endParaRPr>
          </a:p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en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Metal</a:t>
            </a:r>
            <a:r>
              <a:rPr lang="zh-CN" alt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OpenAI-compatible API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85AAACF-8A9F-4D05-AA8E-61B0DFE4ABA1}"/>
              </a:ext>
            </a:extLst>
          </p:cNvPr>
          <p:cNvSpPr>
            <a:spLocks noGrp="1"/>
          </p:cNvSpPr>
          <p:nvPr/>
        </p:nvSpPr>
        <p:spPr>
          <a:xfrm>
            <a:off x="8563075" y="37338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F7E1078-1153-4281-AA1A-D9D79C540636}"/>
              </a:ext>
            </a:extLst>
          </p:cNvPr>
          <p:cNvSpPr>
            <a:spLocks noGrp="1"/>
          </p:cNvSpPr>
          <p:nvPr/>
        </p:nvSpPr>
        <p:spPr>
          <a:xfrm>
            <a:off x="9068002" y="3657600"/>
            <a:ext cx="2495348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temperature=0</a:t>
            </a:r>
            <a:r>
              <a:rPr 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, </a:t>
            </a:r>
            <a:r>
              <a:rPr sz="1200" b="1" dirty="0" err="1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max_tokens</a:t>
            </a: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=64</a:t>
            </a:r>
            <a:r>
              <a:rPr lang="en-US"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,</a:t>
            </a:r>
          </a:p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--parallel 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A434FBB-3B28-4A02-9D14-AC4C85F3ED07}"/>
              </a:ext>
            </a:extLst>
          </p:cNvPr>
          <p:cNvSpPr>
            <a:spLocks noGrp="1"/>
          </p:cNvSpPr>
          <p:nvPr/>
        </p:nvSpPr>
        <p:spPr>
          <a:xfrm>
            <a:off x="8563075" y="41910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负载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DBF4343-0713-4F27-9DDC-6C72D245049A}"/>
              </a:ext>
            </a:extLst>
          </p:cNvPr>
          <p:cNvSpPr>
            <a:spLocks noGrp="1"/>
          </p:cNvSpPr>
          <p:nvPr/>
        </p:nvSpPr>
        <p:spPr>
          <a:xfrm>
            <a:off x="9068002" y="4191000"/>
            <a:ext cx="2495348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Coding agent + RAG agent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0460C9F-CEC5-4FB9-9D85-28EA3292285E}"/>
              </a:ext>
            </a:extLst>
          </p:cNvPr>
          <p:cNvSpPr>
            <a:spLocks noGrp="1"/>
          </p:cNvSpPr>
          <p:nvPr/>
        </p:nvSpPr>
        <p:spPr>
          <a:xfrm>
            <a:off x="8563075" y="4648200"/>
            <a:ext cx="87748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rPr>
              <a:t>长度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F328DF7-119E-483C-8C19-C62B1D23C575}"/>
              </a:ext>
            </a:extLst>
          </p:cNvPr>
          <p:cNvSpPr>
            <a:spLocks noGrp="1"/>
          </p:cNvSpPr>
          <p:nvPr/>
        </p:nvSpPr>
        <p:spPr>
          <a:xfrm>
            <a:off x="9068002" y="4648200"/>
            <a:ext cx="2495348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F7F4EA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2K · 4K · 8K · 16K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3D1A9A9-5AD8-423C-A81C-A10E3687C9C3}"/>
              </a:ext>
            </a:extLst>
          </p:cNvPr>
          <p:cNvSpPr>
            <a:spLocks noGrp="1"/>
          </p:cNvSpPr>
          <p:nvPr/>
        </p:nvSpPr>
        <p:spPr>
          <a:xfrm>
            <a:off x="8544025" y="4952255"/>
            <a:ext cx="3000275" cy="43815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prompt-block-label">
            <a:extLst>
              <a:ext uri="{FF2B5EF4-FFF2-40B4-BE49-F238E27FC236}">
                <a16:creationId xmlns:a16="http://schemas.microsoft.com/office/drawing/2014/main" id="{86D5430C-0CA5-4FB4-A960-DFD116C89820}"/>
              </a:ext>
            </a:extLst>
          </p:cNvPr>
          <p:cNvSpPr>
            <a:spLocks noGrp="1"/>
          </p:cNvSpPr>
          <p:nvPr/>
        </p:nvSpPr>
        <p:spPr>
          <a:xfrm>
            <a:off x="8639275" y="4999880"/>
            <a:ext cx="2754351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20 requests </a:t>
            </a:r>
            <a:endParaRPr lang="en-US" sz="1000" b="1" dirty="0">
              <a:solidFill>
                <a:srgbClr val="FFFFFF"/>
              </a:solidFill>
              <a:latin typeface="Menlo"/>
              <a:ea typeface="Menlo"/>
              <a:cs typeface="Menlo"/>
            </a:endParaRPr>
          </a:p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report warm turns 2-20 median</a:t>
            </a:r>
          </a:p>
        </p:txBody>
      </p:sp>
      <p:sp>
        <p:nvSpPr>
          <p:cNvPr id="49" name="footer-page">
            <a:extLst>
              <a:ext uri="{FF2B5EF4-FFF2-40B4-BE49-F238E27FC236}">
                <a16:creationId xmlns:a16="http://schemas.microsoft.com/office/drawing/2014/main" id="{BC76C8EE-93B3-46BE-96D8-87AE92EA2BAB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111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74515F55-6ED5-4FC1-907F-F906F4F2D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39371D6F-2B3A-48AF-AE37-6CBC9278B417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3D06148B-6E0A-4A23-97B5-8E090B86B6F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3FC4D5AE-403E-4F06-B8F4-FAB510EBCB5C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MAIN RESULT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959CEA8B-A288-44DD-9E29-131A0C9616AF}"/>
              </a:ext>
            </a:extLst>
          </p:cNvPr>
          <p:cNvSpPr>
            <a:spLocks noGrp="1"/>
          </p:cNvSpPr>
          <p:nvPr/>
        </p:nvSpPr>
        <p:spPr>
          <a:xfrm>
            <a:off x="609600" y="853440"/>
            <a:ext cx="10287000" cy="8039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稳定前缀把长上下文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warm TTFT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从几十秒压到百毫秒级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3D620B-503A-48C3-8C7C-3258B5F220C5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525780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817228"/>
            <a:ext cx="5029200" cy="25377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0736059-3223-4E9C-A9C9-7C6C736177ED}"/>
              </a:ext>
            </a:extLst>
          </p:cNvPr>
          <p:cNvSpPr>
            <a:spLocks noGrp="1"/>
          </p:cNvSpPr>
          <p:nvPr/>
        </p:nvSpPr>
        <p:spPr>
          <a:xfrm>
            <a:off x="6324600" y="1638300"/>
            <a:ext cx="5257800" cy="289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38900" y="1834980"/>
            <a:ext cx="5029200" cy="250224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657104D-349D-4122-9BD2-D9D45E60B66A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Warm TTFT by length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630212-AC3D-4FD5-9026-09C1ECD2BDE7}"/>
              </a:ext>
            </a:extLst>
          </p:cNvPr>
          <p:cNvSpPr>
            <a:spLocks noGrp="1"/>
          </p:cNvSpPr>
          <p:nvPr/>
        </p:nvSpPr>
        <p:spPr>
          <a:xfrm>
            <a:off x="6496050" y="4648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TTFT speedup by length</a:t>
            </a:r>
          </a:p>
        </p:txBody>
      </p:sp>
      <p:sp>
        <p:nvSpPr>
          <p:cNvPr id="12" name="callout-rule">
            <a:extLst>
              <a:ext uri="{FF2B5EF4-FFF2-40B4-BE49-F238E27FC236}">
                <a16:creationId xmlns:a16="http://schemas.microsoft.com/office/drawing/2014/main" id="{07819517-A398-464F-8448-5192919CAEA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38100" cy="5715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allout-text">
            <a:extLst>
              <a:ext uri="{FF2B5EF4-FFF2-40B4-BE49-F238E27FC236}">
                <a16:creationId xmlns:a16="http://schemas.microsoft.com/office/drawing/2014/main" id="{E09D0181-EBF6-4E9C-AEEE-FF73DB8821B8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853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16K </a:t>
            </a: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下，</a:t>
            </a:r>
            <a:r>
              <a:rPr sz="160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Coding</a:t>
            </a:r>
            <a:r>
              <a:rPr sz="160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: 37.443s → 0.334s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；RAG: 25.341s → 0.244s</a:t>
            </a:r>
            <a:endParaRPr lang="en-US"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上下文越长，重复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600" b="1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prefill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越贵，S2 </a:t>
            </a: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的相对收益越大</a:t>
            </a:r>
            <a:endParaRPr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15" name="footer-page">
            <a:extLst>
              <a:ext uri="{FF2B5EF4-FFF2-40B4-BE49-F238E27FC236}">
                <a16:creationId xmlns:a16="http://schemas.microsoft.com/office/drawing/2014/main" id="{37D85575-7825-4D53-AF7B-0E1C4B44CBF0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835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ackground">
            <a:extLst>
              <a:ext uri="{FF2B5EF4-FFF2-40B4-BE49-F238E27FC236}">
                <a16:creationId xmlns:a16="http://schemas.microsoft.com/office/drawing/2014/main" id="{2B05CB38-73AF-4DE5-848D-A49122FAA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11B60D-C4BE-8EB6-4657-25511B95CAF4}"/>
              </a:ext>
            </a:extLst>
          </p:cNvPr>
          <p:cNvSpPr>
            <a:spLocks noGrp="1"/>
          </p:cNvSpPr>
          <p:nvPr/>
        </p:nvSpPr>
        <p:spPr>
          <a:xfrm>
            <a:off x="728762" y="3836104"/>
            <a:ext cx="5483148" cy="1936045"/>
          </a:xfrm>
          <a:prstGeom prst="rect">
            <a:avLst/>
          </a:prstGeom>
          <a:solidFill>
            <a:srgbClr val="FEFCF7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5D9E1713-B929-4515-91D2-1BF008ABC0E4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3A05DEAE-4A40-497C-965E-5D802DFBE12A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FAE0259B-E497-46E0-9CC1-F6C66FC4F5FE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INTERPRETATION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14D241F0-341B-4E3C-BA96-A17838228978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10096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TTFT 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降低后，瓶颈转向</a:t>
            </a: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decode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0666E4-3D6B-46C5-8A08-AA3221C70987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5483148" cy="2057400"/>
          </a:xfrm>
          <a:prstGeom prst="rect">
            <a:avLst/>
          </a:prstGeom>
          <a:solidFill>
            <a:srgbClr val="FEFCF7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7" name="metric-value">
            <a:extLst>
              <a:ext uri="{FF2B5EF4-FFF2-40B4-BE49-F238E27FC236}">
                <a16:creationId xmlns:a16="http://schemas.microsoft.com/office/drawing/2014/main" id="{EDB60171-38EF-45B0-B9C4-50DEFFC7A7AE}"/>
              </a:ext>
            </a:extLst>
          </p:cNvPr>
          <p:cNvSpPr>
            <a:spLocks noGrp="1"/>
          </p:cNvSpPr>
          <p:nvPr/>
        </p:nvSpPr>
        <p:spPr>
          <a:xfrm>
            <a:off x="1004888" y="1933575"/>
            <a:ext cx="2138362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rPr>
              <a:t>112.2x</a:t>
            </a:r>
          </a:p>
        </p:txBody>
      </p:sp>
      <p:sp>
        <p:nvSpPr>
          <p:cNvPr id="8" name="metric-label">
            <a:extLst>
              <a:ext uri="{FF2B5EF4-FFF2-40B4-BE49-F238E27FC236}">
                <a16:creationId xmlns:a16="http://schemas.microsoft.com/office/drawing/2014/main" id="{49732D14-333C-4477-A73E-232DF3A0A2CF}"/>
              </a:ext>
            </a:extLst>
          </p:cNvPr>
          <p:cNvSpPr>
            <a:spLocks noGrp="1"/>
          </p:cNvSpPr>
          <p:nvPr/>
        </p:nvSpPr>
        <p:spPr>
          <a:xfrm>
            <a:off x="1004888" y="2590800"/>
            <a:ext cx="2690812" cy="2356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16K Coding TTFT speedup</a:t>
            </a:r>
          </a:p>
        </p:txBody>
      </p:sp>
      <p:sp>
        <p:nvSpPr>
          <p:cNvPr id="9" name="metric-detail">
            <a:extLst>
              <a:ext uri="{FF2B5EF4-FFF2-40B4-BE49-F238E27FC236}">
                <a16:creationId xmlns:a16="http://schemas.microsoft.com/office/drawing/2014/main" id="{1F0B2DE6-3843-4E9D-B131-4CADA581AA3A}"/>
              </a:ext>
            </a:extLst>
          </p:cNvPr>
          <p:cNvSpPr>
            <a:spLocks noGrp="1"/>
          </p:cNvSpPr>
          <p:nvPr/>
        </p:nvSpPr>
        <p:spPr>
          <a:xfrm>
            <a:off x="1004888" y="2867025"/>
            <a:ext cx="2095500" cy="7291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S0 37.443s</a:t>
            </a:r>
            <a:endParaRPr lang="en-US" sz="1100" b="0" dirty="0">
              <a:solidFill>
                <a:srgbClr val="62706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S2 0.334s</a:t>
            </a:r>
            <a:endParaRPr lang="en-US" sz="1100" b="0" dirty="0">
              <a:solidFill>
                <a:srgbClr val="62706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S2 p95 0.359s</a:t>
            </a:r>
          </a:p>
        </p:txBody>
      </p:sp>
      <p:sp>
        <p:nvSpPr>
          <p:cNvPr id="10" name="metric-value">
            <a:extLst>
              <a:ext uri="{FF2B5EF4-FFF2-40B4-BE49-F238E27FC236}">
                <a16:creationId xmlns:a16="http://schemas.microsoft.com/office/drawing/2014/main" id="{583D161B-FF77-4D90-92A4-8E9F5E687AAA}"/>
              </a:ext>
            </a:extLst>
          </p:cNvPr>
          <p:cNvSpPr>
            <a:spLocks noGrp="1"/>
          </p:cNvSpPr>
          <p:nvPr/>
        </p:nvSpPr>
        <p:spPr>
          <a:xfrm>
            <a:off x="3790951" y="1936044"/>
            <a:ext cx="2416098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315C9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>
                <a:solidFill>
                  <a:srgbClr val="315C98"/>
                </a:solidFill>
                <a:latin typeface="Hiragino Sans GB"/>
                <a:ea typeface="Hiragino Sans GB"/>
                <a:cs typeface="Hiragino Sans GB"/>
              </a:rPr>
              <a:t>103.7x</a:t>
            </a:r>
          </a:p>
        </p:txBody>
      </p:sp>
      <p:sp>
        <p:nvSpPr>
          <p:cNvPr id="11" name="metric-label">
            <a:extLst>
              <a:ext uri="{FF2B5EF4-FFF2-40B4-BE49-F238E27FC236}">
                <a16:creationId xmlns:a16="http://schemas.microsoft.com/office/drawing/2014/main" id="{C9EFC82F-5B9B-4A7B-84A6-EE6A6C64445F}"/>
              </a:ext>
            </a:extLst>
          </p:cNvPr>
          <p:cNvSpPr>
            <a:spLocks noGrp="1"/>
          </p:cNvSpPr>
          <p:nvPr/>
        </p:nvSpPr>
        <p:spPr>
          <a:xfrm>
            <a:off x="3790951" y="2590800"/>
            <a:ext cx="2416098" cy="2356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16K RAG TTFT speedup</a:t>
            </a:r>
          </a:p>
        </p:txBody>
      </p:sp>
      <p:sp>
        <p:nvSpPr>
          <p:cNvPr id="12" name="metric-detail">
            <a:extLst>
              <a:ext uri="{FF2B5EF4-FFF2-40B4-BE49-F238E27FC236}">
                <a16:creationId xmlns:a16="http://schemas.microsoft.com/office/drawing/2014/main" id="{3FF1575E-7D7B-4E0B-9A70-542205064F1B}"/>
              </a:ext>
            </a:extLst>
          </p:cNvPr>
          <p:cNvSpPr>
            <a:spLocks noGrp="1"/>
          </p:cNvSpPr>
          <p:nvPr/>
        </p:nvSpPr>
        <p:spPr>
          <a:xfrm>
            <a:off x="3797223" y="2867025"/>
            <a:ext cx="2409825" cy="86924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S0 25.341s</a:t>
            </a:r>
            <a:endParaRPr lang="en-US" sz="1100" b="0" dirty="0">
              <a:solidFill>
                <a:srgbClr val="62706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S2 0.244s</a:t>
            </a:r>
            <a:endParaRPr lang="en-US" sz="1100" b="0" dirty="0">
              <a:solidFill>
                <a:srgbClr val="62706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50000"/>
              </a:lnSpc>
              <a:defRPr sz="1050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0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S2 p95 0.265s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731C7B-FB59-4CD0-8AC9-90F7D3EC5EEE}"/>
              </a:ext>
            </a:extLst>
          </p:cNvPr>
          <p:cNvSpPr>
            <a:spLocks noGrp="1"/>
          </p:cNvSpPr>
          <p:nvPr/>
        </p:nvSpPr>
        <p:spPr>
          <a:xfrm>
            <a:off x="1143000" y="4029075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S2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之后的总延迟组成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1FF0C6-08A0-4F90-815D-18032A8C1065}"/>
              </a:ext>
            </a:extLst>
          </p:cNvPr>
          <p:cNvSpPr>
            <a:spLocks noGrp="1"/>
          </p:cNvSpPr>
          <p:nvPr/>
        </p:nvSpPr>
        <p:spPr>
          <a:xfrm>
            <a:off x="1143000" y="4410075"/>
            <a:ext cx="85725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Coding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6BA00C-B81F-407B-8026-B694D6D71708}"/>
              </a:ext>
            </a:extLst>
          </p:cNvPr>
          <p:cNvSpPr>
            <a:spLocks noGrp="1"/>
          </p:cNvSpPr>
          <p:nvPr/>
        </p:nvSpPr>
        <p:spPr>
          <a:xfrm>
            <a:off x="4343399" y="4419600"/>
            <a:ext cx="1491941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2.268s</a:t>
            </a:r>
            <a:r>
              <a:rPr lang="zh-CN" altLang="en-US" sz="14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 </a:t>
            </a:r>
            <a:r>
              <a:rPr sz="14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total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D2C84E-CEFA-447A-AF3D-E62EDC952CFD}"/>
              </a:ext>
            </a:extLst>
          </p:cNvPr>
          <p:cNvSpPr>
            <a:spLocks noGrp="1"/>
          </p:cNvSpPr>
          <p:nvPr/>
        </p:nvSpPr>
        <p:spPr>
          <a:xfrm>
            <a:off x="1924050" y="4419600"/>
            <a:ext cx="809625" cy="3429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rompt-block-label">
            <a:extLst>
              <a:ext uri="{FF2B5EF4-FFF2-40B4-BE49-F238E27FC236}">
                <a16:creationId xmlns:a16="http://schemas.microsoft.com/office/drawing/2014/main" id="{22B618F9-BD6A-4F9F-94A5-32E380820B6E}"/>
              </a:ext>
            </a:extLst>
          </p:cNvPr>
          <p:cNvSpPr>
            <a:spLocks noGrp="1"/>
          </p:cNvSpPr>
          <p:nvPr/>
        </p:nvSpPr>
        <p:spPr>
          <a:xfrm>
            <a:off x="2019300" y="4419600"/>
            <a:ext cx="6191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TTFT 0.334s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FF795C-9394-4A8F-A3D3-78E06B5990F5}"/>
              </a:ext>
            </a:extLst>
          </p:cNvPr>
          <p:cNvSpPr>
            <a:spLocks noGrp="1"/>
          </p:cNvSpPr>
          <p:nvPr/>
        </p:nvSpPr>
        <p:spPr>
          <a:xfrm>
            <a:off x="2781300" y="4419600"/>
            <a:ext cx="1257300" cy="34290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mpt-block-label">
            <a:extLst>
              <a:ext uri="{FF2B5EF4-FFF2-40B4-BE49-F238E27FC236}">
                <a16:creationId xmlns:a16="http://schemas.microsoft.com/office/drawing/2014/main" id="{88B80E20-4672-443A-8757-9F9B7E24520F}"/>
              </a:ext>
            </a:extLst>
          </p:cNvPr>
          <p:cNvSpPr>
            <a:spLocks noGrp="1"/>
          </p:cNvSpPr>
          <p:nvPr/>
        </p:nvSpPr>
        <p:spPr>
          <a:xfrm>
            <a:off x="2781300" y="4419600"/>
            <a:ext cx="1257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decode ≈</a:t>
            </a:r>
            <a:r>
              <a:rPr lang="zh-CN" altLang="en-US"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 </a:t>
            </a: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1.934s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6D4246-D00F-478F-B753-9DC16B451C8E}"/>
              </a:ext>
            </a:extLst>
          </p:cNvPr>
          <p:cNvSpPr>
            <a:spLocks noGrp="1"/>
          </p:cNvSpPr>
          <p:nvPr/>
        </p:nvSpPr>
        <p:spPr>
          <a:xfrm>
            <a:off x="1143000" y="5000625"/>
            <a:ext cx="857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RAG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BD54648-9D3F-41BE-A15C-9BA6DDB17A6D}"/>
              </a:ext>
            </a:extLst>
          </p:cNvPr>
          <p:cNvSpPr>
            <a:spLocks noGrp="1"/>
          </p:cNvSpPr>
          <p:nvPr/>
        </p:nvSpPr>
        <p:spPr>
          <a:xfrm>
            <a:off x="4343399" y="5000625"/>
            <a:ext cx="135749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0.630s total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B792CE-E451-415B-8FE1-777F92A07926}"/>
              </a:ext>
            </a:extLst>
          </p:cNvPr>
          <p:cNvSpPr>
            <a:spLocks noGrp="1"/>
          </p:cNvSpPr>
          <p:nvPr/>
        </p:nvSpPr>
        <p:spPr>
          <a:xfrm>
            <a:off x="1924050" y="5000625"/>
            <a:ext cx="781050" cy="3429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rompt-block-label">
            <a:extLst>
              <a:ext uri="{FF2B5EF4-FFF2-40B4-BE49-F238E27FC236}">
                <a16:creationId xmlns:a16="http://schemas.microsoft.com/office/drawing/2014/main" id="{655F9B82-AFDD-471F-9EC9-3E8C4C9B947F}"/>
              </a:ext>
            </a:extLst>
          </p:cNvPr>
          <p:cNvSpPr>
            <a:spLocks noGrp="1"/>
          </p:cNvSpPr>
          <p:nvPr/>
        </p:nvSpPr>
        <p:spPr>
          <a:xfrm>
            <a:off x="2019300" y="5000625"/>
            <a:ext cx="590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TTFT 0.244s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C3F287-CDC3-4912-826C-D431DEEB90FA}"/>
              </a:ext>
            </a:extLst>
          </p:cNvPr>
          <p:cNvSpPr>
            <a:spLocks noGrp="1"/>
          </p:cNvSpPr>
          <p:nvPr/>
        </p:nvSpPr>
        <p:spPr>
          <a:xfrm>
            <a:off x="2743200" y="5000625"/>
            <a:ext cx="952500" cy="34290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prompt-block-label">
            <a:extLst>
              <a:ext uri="{FF2B5EF4-FFF2-40B4-BE49-F238E27FC236}">
                <a16:creationId xmlns:a16="http://schemas.microsoft.com/office/drawing/2014/main" id="{47BF7808-A33D-4B70-A394-96409EBDD99D}"/>
              </a:ext>
            </a:extLst>
          </p:cNvPr>
          <p:cNvSpPr>
            <a:spLocks noGrp="1"/>
          </p:cNvSpPr>
          <p:nvPr/>
        </p:nvSpPr>
        <p:spPr>
          <a:xfrm>
            <a:off x="2743199" y="5000625"/>
            <a:ext cx="952499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lang="en"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d</a:t>
            </a:r>
            <a:r>
              <a:rPr sz="1000" b="1" dirty="0" err="1">
                <a:solidFill>
                  <a:srgbClr val="172023"/>
                </a:solidFill>
                <a:latin typeface="Menlo"/>
                <a:ea typeface="Menlo"/>
                <a:cs typeface="Menlo"/>
              </a:rPr>
              <a:t>ecode</a:t>
            </a:r>
            <a:endParaRPr lang="en-US" sz="1000" b="1" dirty="0">
              <a:solidFill>
                <a:srgbClr val="172023"/>
              </a:solidFill>
              <a:latin typeface="Menlo"/>
              <a:ea typeface="Menlo"/>
              <a:cs typeface="Menlo"/>
            </a:endParaRPr>
          </a:p>
          <a:p>
            <a:pPr algn="ctr">
              <a:defRPr sz="7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≈</a:t>
            </a:r>
            <a:r>
              <a:rPr lang="zh-CN" altLang="en-US"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 </a:t>
            </a: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0.386s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FE4BFF-04A0-4646-A776-B99E410C7D80}"/>
              </a:ext>
            </a:extLst>
          </p:cNvPr>
          <p:cNvSpPr>
            <a:spLocks noGrp="1"/>
          </p:cNvSpPr>
          <p:nvPr/>
        </p:nvSpPr>
        <p:spPr>
          <a:xfrm>
            <a:off x="6381750" y="1676400"/>
            <a:ext cx="5483148" cy="4095750"/>
          </a:xfrm>
          <a:prstGeom prst="rect">
            <a:avLst/>
          </a:prstGeom>
          <a:solidFill>
            <a:srgbClr val="FEFCF7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B2E9915-25B2-4444-9B64-466EBE354B9C}"/>
              </a:ext>
            </a:extLst>
          </p:cNvPr>
          <p:cNvSpPr>
            <a:spLocks noGrp="1"/>
          </p:cNvSpPr>
          <p:nvPr/>
        </p:nvSpPr>
        <p:spPr>
          <a:xfrm>
            <a:off x="6705600" y="1962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6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What changed?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4351C2-230B-467B-958C-13B08262C1E9}"/>
              </a:ext>
            </a:extLst>
          </p:cNvPr>
          <p:cNvSpPr>
            <a:spLocks noGrp="1"/>
          </p:cNvSpPr>
          <p:nvPr/>
        </p:nvSpPr>
        <p:spPr>
          <a:xfrm>
            <a:off x="6705600" y="2419350"/>
            <a:ext cx="704850" cy="304800"/>
          </a:xfrm>
          <a:prstGeom prst="rect">
            <a:avLst/>
          </a:prstGeom>
          <a:solidFill>
            <a:srgbClr val="A33B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prompt-block-label">
            <a:extLst>
              <a:ext uri="{FF2B5EF4-FFF2-40B4-BE49-F238E27FC236}">
                <a16:creationId xmlns:a16="http://schemas.microsoft.com/office/drawing/2014/main" id="{C6375B7F-3203-491D-888A-822BC9F6122A}"/>
              </a:ext>
            </a:extLst>
          </p:cNvPr>
          <p:cNvSpPr>
            <a:spLocks noGrp="1"/>
          </p:cNvSpPr>
          <p:nvPr/>
        </p:nvSpPr>
        <p:spPr>
          <a:xfrm>
            <a:off x="6800850" y="24765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S0/S1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33BD02-856B-48E6-BEF7-20572E48151F}"/>
              </a:ext>
            </a:extLst>
          </p:cNvPr>
          <p:cNvSpPr>
            <a:spLocks noGrp="1"/>
          </p:cNvSpPr>
          <p:nvPr/>
        </p:nvSpPr>
        <p:spPr>
          <a:xfrm>
            <a:off x="7600950" y="2333625"/>
            <a:ext cx="3349548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TTFT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与总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prompt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长度同步上升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16K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已经进入几十秒量级</a:t>
            </a:r>
            <a:endParaRPr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BC75FCD-7FE2-432E-96F3-ABEDD96E8F9A}"/>
              </a:ext>
            </a:extLst>
          </p:cNvPr>
          <p:cNvSpPr>
            <a:spLocks noGrp="1"/>
          </p:cNvSpPr>
          <p:nvPr/>
        </p:nvSpPr>
        <p:spPr>
          <a:xfrm>
            <a:off x="6705600" y="3086100"/>
            <a:ext cx="704850" cy="3048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rompt-block-label">
            <a:extLst>
              <a:ext uri="{FF2B5EF4-FFF2-40B4-BE49-F238E27FC236}">
                <a16:creationId xmlns:a16="http://schemas.microsoft.com/office/drawing/2014/main" id="{19D569C0-D133-4D63-9277-FB46378D25B5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S2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8FDDEDF-2AFB-460C-95FE-374A4B9C7B02}"/>
              </a:ext>
            </a:extLst>
          </p:cNvPr>
          <p:cNvSpPr>
            <a:spLocks noGrp="1"/>
          </p:cNvSpPr>
          <p:nvPr/>
        </p:nvSpPr>
        <p:spPr>
          <a:xfrm>
            <a:off x="7600950" y="3000375"/>
            <a:ext cx="2705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warm turn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只处理末尾短后缀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TTFT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与总长度弱相关</a:t>
            </a:r>
            <a:endParaRPr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C003CEE-D47E-4880-8113-38BA693C4C0D}"/>
              </a:ext>
            </a:extLst>
          </p:cNvPr>
          <p:cNvSpPr>
            <a:spLocks noGrp="1"/>
          </p:cNvSpPr>
          <p:nvPr/>
        </p:nvSpPr>
        <p:spPr>
          <a:xfrm>
            <a:off x="6705600" y="3752850"/>
            <a:ext cx="704850" cy="304800"/>
          </a:xfrm>
          <a:prstGeom prst="rect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prompt-block-label">
            <a:extLst>
              <a:ext uri="{FF2B5EF4-FFF2-40B4-BE49-F238E27FC236}">
                <a16:creationId xmlns:a16="http://schemas.microsoft.com/office/drawing/2014/main" id="{9AAB1BDD-63AD-479A-B1E9-B707C50FA5A8}"/>
              </a:ext>
            </a:extLst>
          </p:cNvPr>
          <p:cNvSpPr>
            <a:spLocks noGrp="1"/>
          </p:cNvSpPr>
          <p:nvPr/>
        </p:nvSpPr>
        <p:spPr>
          <a:xfrm>
            <a:off x="6800850" y="3810000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p95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E5280B2-83C1-4D2D-8549-C47FBB57A3B1}"/>
              </a:ext>
            </a:extLst>
          </p:cNvPr>
          <p:cNvSpPr>
            <a:spLocks noGrp="1"/>
          </p:cNvSpPr>
          <p:nvPr/>
        </p:nvSpPr>
        <p:spPr>
          <a:xfrm>
            <a:off x="7600950" y="3667125"/>
            <a:ext cx="3717538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S2 p95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接近中位数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说明第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2-20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轮持续命中，而非少数偶然值</a:t>
            </a:r>
            <a:endParaRPr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EC31EF3-7B78-40DC-88F4-8D800044F061}"/>
              </a:ext>
            </a:extLst>
          </p:cNvPr>
          <p:cNvSpPr>
            <a:spLocks noGrp="1"/>
          </p:cNvSpPr>
          <p:nvPr/>
        </p:nvSpPr>
        <p:spPr>
          <a:xfrm>
            <a:off x="6705600" y="4419600"/>
            <a:ext cx="704850" cy="30480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prompt-block-label">
            <a:extLst>
              <a:ext uri="{FF2B5EF4-FFF2-40B4-BE49-F238E27FC236}">
                <a16:creationId xmlns:a16="http://schemas.microsoft.com/office/drawing/2014/main" id="{68501D21-0507-4716-8287-980008D04120}"/>
              </a:ext>
            </a:extLst>
          </p:cNvPr>
          <p:cNvSpPr>
            <a:spLocks noGrp="1"/>
          </p:cNvSpPr>
          <p:nvPr/>
        </p:nvSpPr>
        <p:spPr>
          <a:xfrm>
            <a:off x="6705600" y="4448175"/>
            <a:ext cx="7048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decode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D6BDEA-DA73-4DDD-84F7-2090A3DE8BB4}"/>
              </a:ext>
            </a:extLst>
          </p:cNvPr>
          <p:cNvSpPr>
            <a:spLocks noGrp="1"/>
          </p:cNvSpPr>
          <p:nvPr/>
        </p:nvSpPr>
        <p:spPr>
          <a:xfrm>
            <a:off x="7600950" y="4333875"/>
            <a:ext cx="3717538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prefill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被跳过后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defRPr sz="1125" b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长回答场景会更早暴露逐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token</a:t>
            </a:r>
            <a:r>
              <a:rPr sz="1400" b="0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0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生成吞吐</a:t>
            </a:r>
            <a:endParaRPr sz="1400" b="0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45" name="callout-rule">
            <a:extLst>
              <a:ext uri="{FF2B5EF4-FFF2-40B4-BE49-F238E27FC236}">
                <a16:creationId xmlns:a16="http://schemas.microsoft.com/office/drawing/2014/main" id="{6C765488-C708-46D3-BBCD-BC12B6BF2F59}"/>
              </a:ext>
            </a:extLst>
          </p:cNvPr>
          <p:cNvSpPr>
            <a:spLocks noGrp="1"/>
          </p:cNvSpPr>
          <p:nvPr/>
        </p:nvSpPr>
        <p:spPr>
          <a:xfrm>
            <a:off x="6705600" y="5086350"/>
            <a:ext cx="38100" cy="552450"/>
          </a:xfrm>
          <a:prstGeom prst="rect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callout-text">
            <a:extLst>
              <a:ext uri="{FF2B5EF4-FFF2-40B4-BE49-F238E27FC236}">
                <a16:creationId xmlns:a16="http://schemas.microsoft.com/office/drawing/2014/main" id="{F67CFEB7-3CB7-42AD-85A0-FF8B38132573}"/>
              </a:ext>
            </a:extLst>
          </p:cNvPr>
          <p:cNvSpPr>
            <a:spLocks noGrp="1"/>
          </p:cNvSpPr>
          <p:nvPr/>
        </p:nvSpPr>
        <p:spPr>
          <a:xfrm>
            <a:off x="6858000" y="5048250"/>
            <a:ext cx="48006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>
                <a:solidFill>
                  <a:srgbClr val="172023"/>
                </a:solidFill>
                <a:latin typeface="Calibri" panose="020F0502020204030204" pitchFamily="34" charset="0"/>
                <a:ea typeface="Hiragino Sans GB"/>
                <a:cs typeface="Calibri" panose="020F0502020204030204" pitchFamily="34" charset="0"/>
              </a:rPr>
              <a:t>prompt cache </a:t>
            </a:r>
            <a:r>
              <a:rPr sz="135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的核心价值是让请求更快进入正常生成阶段</a:t>
            </a:r>
            <a:endParaRPr lang="en-US" sz="1350" b="1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 err="1">
                <a:solidFill>
                  <a:srgbClr val="17202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端到端收益还会受输出长度影响</a:t>
            </a:r>
            <a:endParaRPr sz="1350" b="1" dirty="0">
              <a:solidFill>
                <a:srgbClr val="17202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8" name="footer-page">
            <a:extLst>
              <a:ext uri="{FF2B5EF4-FFF2-40B4-BE49-F238E27FC236}">
                <a16:creationId xmlns:a16="http://schemas.microsoft.com/office/drawing/2014/main" id="{25322E69-58C9-4C12-A724-D8437504F1A7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5587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6EF7A3CE-A54E-4EB0-8FD1-452122604A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89C43283-10F5-44FD-934E-E0A5401A1BF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506684C8-34C0-4721-AA34-F04C0F4CD24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C4D43E54-D21E-406C-A912-9C9BBBED2442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LAYOUT SENSITIVITY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2794D0FB-5170-4B25-B240-D133E81D7DF4}"/>
              </a:ext>
            </a:extLst>
          </p:cNvPr>
          <p:cNvSpPr>
            <a:spLocks noGrp="1"/>
          </p:cNvSpPr>
          <p:nvPr/>
        </p:nvSpPr>
        <p:spPr>
          <a:xfrm>
            <a:off x="609600" y="832484"/>
            <a:ext cx="10096500" cy="8248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动态字段可以存在，但不能打断可复用前缀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9382F5-166F-4180-A346-4447DBB24D27}"/>
              </a:ext>
            </a:extLst>
          </p:cNvPr>
          <p:cNvSpPr>
            <a:spLocks noGrp="1"/>
          </p:cNvSpPr>
          <p:nvPr/>
        </p:nvSpPr>
        <p:spPr>
          <a:xfrm>
            <a:off x="612155" y="1676400"/>
            <a:ext cx="6000750" cy="3162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6455" y="1908813"/>
            <a:ext cx="5772150" cy="269747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09342C-8C93-44D2-8ED5-A4ECCA2E42F1}"/>
              </a:ext>
            </a:extLst>
          </p:cNvPr>
          <p:cNvSpPr>
            <a:spLocks noGrp="1"/>
          </p:cNvSpPr>
          <p:nvPr/>
        </p:nvSpPr>
        <p:spPr>
          <a:xfrm>
            <a:off x="745505" y="5071112"/>
            <a:ext cx="5619750" cy="6248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2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8K 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Calibri" panose="020F0502020204030204" pitchFamily="34" charset="0"/>
              </a:rPr>
              <a:t>prompt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下，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Menlo" panose="020B0609030804020204" pitchFamily="49" charset="0"/>
              </a:rPr>
              <a:t>front_volatile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Menlo" panose="020B0609030804020204" pitchFamily="49" charset="0"/>
              </a:rPr>
              <a:t>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把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TTFT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拉回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9-12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秒量级end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/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stable_prefix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保持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0.15-0.18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秒</a:t>
            </a:r>
            <a:endParaRPr sz="1200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EE8E19-F0ED-46FF-A09B-5449B5886955}"/>
              </a:ext>
            </a:extLst>
          </p:cNvPr>
          <p:cNvSpPr>
            <a:spLocks noGrp="1"/>
          </p:cNvSpPr>
          <p:nvPr/>
        </p:nvSpPr>
        <p:spPr>
          <a:xfrm>
            <a:off x="7225061" y="164973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B3B"/>
                </a:solidFill>
                <a:latin typeface="Menlo"/>
                <a:ea typeface="Menlo"/>
                <a:cs typeface="Menlo"/>
              </a:defRPr>
            </a:pPr>
            <a:r>
              <a:rPr sz="1600" b="1" i="1" dirty="0">
                <a:solidFill>
                  <a:srgbClr val="A33B3B"/>
                </a:solidFill>
                <a:latin typeface="Menlo"/>
                <a:ea typeface="Menlo"/>
                <a:cs typeface="Menlo"/>
              </a:rPr>
              <a:t>bad layout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4438D7-4D98-422E-A02B-5C0395003585}"/>
              </a:ext>
            </a:extLst>
          </p:cNvPr>
          <p:cNvSpPr>
            <a:spLocks noGrp="1"/>
          </p:cNvSpPr>
          <p:nvPr/>
        </p:nvSpPr>
        <p:spPr>
          <a:xfrm>
            <a:off x="7225061" y="1964055"/>
            <a:ext cx="1241112" cy="60960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ompt-block-label">
            <a:extLst>
              <a:ext uri="{FF2B5EF4-FFF2-40B4-BE49-F238E27FC236}">
                <a16:creationId xmlns:a16="http://schemas.microsoft.com/office/drawing/2014/main" id="{3264D903-E7FA-4032-963D-F07DF8FFF22A}"/>
              </a:ext>
            </a:extLst>
          </p:cNvPr>
          <p:cNvSpPr>
            <a:spLocks noGrp="1"/>
          </p:cNvSpPr>
          <p:nvPr/>
        </p:nvSpPr>
        <p:spPr>
          <a:xfrm>
            <a:off x="7320310" y="2021205"/>
            <a:ext cx="1068777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time</a:t>
            </a:r>
          </a:p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id</a:t>
            </a:r>
          </a:p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latest error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33119E-C372-473E-8520-8C7D38D1D403}"/>
              </a:ext>
            </a:extLst>
          </p:cNvPr>
          <p:cNvSpPr>
            <a:spLocks noGrp="1"/>
          </p:cNvSpPr>
          <p:nvPr/>
        </p:nvSpPr>
        <p:spPr>
          <a:xfrm>
            <a:off x="8580473" y="1964055"/>
            <a:ext cx="1692588" cy="60960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rompt-block-label">
            <a:extLst>
              <a:ext uri="{FF2B5EF4-FFF2-40B4-BE49-F238E27FC236}">
                <a16:creationId xmlns:a16="http://schemas.microsoft.com/office/drawing/2014/main" id="{5B43BABB-EA30-4892-A203-208D8AEA8DC4}"/>
              </a:ext>
            </a:extLst>
          </p:cNvPr>
          <p:cNvSpPr>
            <a:spLocks noGrp="1"/>
          </p:cNvSpPr>
          <p:nvPr/>
        </p:nvSpPr>
        <p:spPr>
          <a:xfrm>
            <a:off x="8580473" y="2021205"/>
            <a:ext cx="1692588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stable context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CE696B-3FCD-4D0C-9581-7C2DE1D148A9}"/>
              </a:ext>
            </a:extLst>
          </p:cNvPr>
          <p:cNvSpPr>
            <a:spLocks noGrp="1"/>
          </p:cNvSpPr>
          <p:nvPr/>
        </p:nvSpPr>
        <p:spPr>
          <a:xfrm>
            <a:off x="10349261" y="1964055"/>
            <a:ext cx="876300" cy="60960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mpt-block-label">
            <a:extLst>
              <a:ext uri="{FF2B5EF4-FFF2-40B4-BE49-F238E27FC236}">
                <a16:creationId xmlns:a16="http://schemas.microsoft.com/office/drawing/2014/main" id="{E386D8C0-C8CD-46D8-ADA2-BC5841120868}"/>
              </a:ext>
            </a:extLst>
          </p:cNvPr>
          <p:cNvSpPr>
            <a:spLocks noGrp="1"/>
          </p:cNvSpPr>
          <p:nvPr/>
        </p:nvSpPr>
        <p:spPr>
          <a:xfrm>
            <a:off x="10444511" y="2021205"/>
            <a:ext cx="685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user ask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A261BB-2468-4F84-B96A-6B64F52BD659}"/>
              </a:ext>
            </a:extLst>
          </p:cNvPr>
          <p:cNvSpPr>
            <a:spLocks noGrp="1"/>
          </p:cNvSpPr>
          <p:nvPr/>
        </p:nvSpPr>
        <p:spPr>
          <a:xfrm>
            <a:off x="7225061" y="2697480"/>
            <a:ext cx="3584944" cy="3581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A33B3B"/>
                </a:solidFill>
                <a:latin typeface="Menlo"/>
                <a:ea typeface="Menlo"/>
                <a:cs typeface="Menlo"/>
              </a:defRPr>
            </a:pPr>
            <a:r>
              <a:rPr sz="1400" dirty="0">
                <a:solidFill>
                  <a:srgbClr val="A33B3B"/>
                </a:solidFill>
                <a:latin typeface="Menlo"/>
                <a:ea typeface="Menlo"/>
                <a:cs typeface="Menlo"/>
              </a:rPr>
              <a:t>prefix mismatch at byte/token 1</a:t>
            </a:r>
          </a:p>
        </p:txBody>
      </p:sp>
      <p:sp>
        <p:nvSpPr>
          <p:cNvPr id="17" name="rule">
            <a:extLst>
              <a:ext uri="{FF2B5EF4-FFF2-40B4-BE49-F238E27FC236}">
                <a16:creationId xmlns:a16="http://schemas.microsoft.com/office/drawing/2014/main" id="{4D02521D-4942-461F-9BBF-561B7732F118}"/>
              </a:ext>
            </a:extLst>
          </p:cNvPr>
          <p:cNvSpPr>
            <a:spLocks noGrp="1"/>
          </p:cNvSpPr>
          <p:nvPr/>
        </p:nvSpPr>
        <p:spPr>
          <a:xfrm>
            <a:off x="7225061" y="3097530"/>
            <a:ext cx="40005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B3C702-7CAF-4261-AA0A-B28194DD16AB}"/>
              </a:ext>
            </a:extLst>
          </p:cNvPr>
          <p:cNvSpPr>
            <a:spLocks noGrp="1"/>
          </p:cNvSpPr>
          <p:nvPr/>
        </p:nvSpPr>
        <p:spPr>
          <a:xfrm>
            <a:off x="7225061" y="338328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7A5B"/>
                </a:solidFill>
                <a:latin typeface="Menlo"/>
                <a:ea typeface="Menlo"/>
                <a:cs typeface="Menlo"/>
              </a:defRPr>
            </a:pPr>
            <a:r>
              <a:rPr sz="1600" b="1" i="1" dirty="0">
                <a:solidFill>
                  <a:srgbClr val="0B7A5B"/>
                </a:solidFill>
                <a:latin typeface="Menlo"/>
                <a:ea typeface="Menlo"/>
                <a:cs typeface="Menlo"/>
              </a:rPr>
              <a:t>good layout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0E7C7B-7F92-427A-B765-57684CB71F70}"/>
              </a:ext>
            </a:extLst>
          </p:cNvPr>
          <p:cNvSpPr>
            <a:spLocks noGrp="1"/>
          </p:cNvSpPr>
          <p:nvPr/>
        </p:nvSpPr>
        <p:spPr>
          <a:xfrm>
            <a:off x="7225061" y="3697605"/>
            <a:ext cx="3048000" cy="6096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rompt-block-label">
            <a:extLst>
              <a:ext uri="{FF2B5EF4-FFF2-40B4-BE49-F238E27FC236}">
                <a16:creationId xmlns:a16="http://schemas.microsoft.com/office/drawing/2014/main" id="{865A670E-502C-4F2E-AA4E-B58F4F77FE2C}"/>
              </a:ext>
            </a:extLst>
          </p:cNvPr>
          <p:cNvSpPr>
            <a:spLocks noGrp="1"/>
          </p:cNvSpPr>
          <p:nvPr/>
        </p:nvSpPr>
        <p:spPr>
          <a:xfrm>
            <a:off x="7320311" y="3754755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system + tools + repo/doc context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6D11EE-35AC-412C-ABE9-F3F34943E8CC}"/>
              </a:ext>
            </a:extLst>
          </p:cNvPr>
          <p:cNvSpPr>
            <a:spLocks noGrp="1"/>
          </p:cNvSpPr>
          <p:nvPr/>
        </p:nvSpPr>
        <p:spPr>
          <a:xfrm>
            <a:off x="10349261" y="3697605"/>
            <a:ext cx="876300" cy="60960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mpt-block-label">
            <a:extLst>
              <a:ext uri="{FF2B5EF4-FFF2-40B4-BE49-F238E27FC236}">
                <a16:creationId xmlns:a16="http://schemas.microsoft.com/office/drawing/2014/main" id="{C40827A0-8810-4277-8BA7-41CDC6556C37}"/>
              </a:ext>
            </a:extLst>
          </p:cNvPr>
          <p:cNvSpPr>
            <a:spLocks noGrp="1"/>
          </p:cNvSpPr>
          <p:nvPr/>
        </p:nvSpPr>
        <p:spPr>
          <a:xfrm>
            <a:off x="10444511" y="3754755"/>
            <a:ext cx="6858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lang="en"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</a:t>
            </a:r>
            <a:r>
              <a:rPr sz="1100" b="1" dirty="0" err="1">
                <a:solidFill>
                  <a:srgbClr val="172023"/>
                </a:solidFill>
                <a:latin typeface="Menlo"/>
                <a:ea typeface="Menlo"/>
                <a:cs typeface="Menlo"/>
              </a:rPr>
              <a:t>ime</a:t>
            </a:r>
            <a:endParaRPr lang="en-US" sz="1100" b="1" dirty="0">
              <a:solidFill>
                <a:srgbClr val="172023"/>
              </a:solidFill>
              <a:latin typeface="Menlo"/>
              <a:ea typeface="Menlo"/>
              <a:cs typeface="Menlo"/>
            </a:endParaRPr>
          </a:p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id</a:t>
            </a:r>
          </a:p>
          <a:p>
            <a:pPr algn="ctr">
              <a:lnSpc>
                <a:spcPct val="110000"/>
              </a:lnSpc>
              <a:defRPr sz="825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lang="en-US" altLang="zh-CN"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user</a:t>
            </a:r>
            <a:r>
              <a:rPr lang="zh-CN" altLang="en-US"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 </a:t>
            </a:r>
            <a:r>
              <a:rPr sz="11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ask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53E094-A6B4-40BB-AD3A-0E84185E9E2D}"/>
              </a:ext>
            </a:extLst>
          </p:cNvPr>
          <p:cNvSpPr>
            <a:spLocks noGrp="1"/>
          </p:cNvSpPr>
          <p:nvPr/>
        </p:nvSpPr>
        <p:spPr>
          <a:xfrm>
            <a:off x="7225060" y="4431029"/>
            <a:ext cx="4226545" cy="4629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B7A5B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0B7A5B"/>
                </a:solidFill>
                <a:latin typeface="Menlo"/>
                <a:ea typeface="Menlo"/>
                <a:cs typeface="Menlo"/>
              </a:rPr>
              <a:t>long exact prefix remains reusable</a:t>
            </a:r>
          </a:p>
        </p:txBody>
      </p:sp>
      <p:sp>
        <p:nvSpPr>
          <p:cNvPr id="24" name="callout-rule">
            <a:extLst>
              <a:ext uri="{FF2B5EF4-FFF2-40B4-BE49-F238E27FC236}">
                <a16:creationId xmlns:a16="http://schemas.microsoft.com/office/drawing/2014/main" id="{576B700A-1817-42F7-954B-F1C6511AECD0}"/>
              </a:ext>
            </a:extLst>
          </p:cNvPr>
          <p:cNvSpPr>
            <a:spLocks noGrp="1"/>
          </p:cNvSpPr>
          <p:nvPr/>
        </p:nvSpPr>
        <p:spPr>
          <a:xfrm>
            <a:off x="7225061" y="5059680"/>
            <a:ext cx="38100" cy="51435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allout-text">
            <a:extLst>
              <a:ext uri="{FF2B5EF4-FFF2-40B4-BE49-F238E27FC236}">
                <a16:creationId xmlns:a16="http://schemas.microsoft.com/office/drawing/2014/main" id="{6644790F-BFAF-4796-81CA-548B1A959470}"/>
              </a:ext>
            </a:extLst>
          </p:cNvPr>
          <p:cNvSpPr>
            <a:spLocks noGrp="1"/>
          </p:cNvSpPr>
          <p:nvPr/>
        </p:nvSpPr>
        <p:spPr>
          <a:xfrm>
            <a:off x="7377461" y="4968240"/>
            <a:ext cx="3848100" cy="5676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移动动态字段不改变任务信息量</a:t>
            </a:r>
            <a:endParaRPr lang="en-US" sz="14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却能把</a:t>
            </a:r>
            <a:r>
              <a:rPr sz="14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1" dirty="0">
                <a:solidFill>
                  <a:srgbClr val="172023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warm TTFT</a:t>
            </a:r>
            <a:r>
              <a:rPr sz="14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 </a:t>
            </a:r>
            <a:r>
              <a:rPr sz="14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从秒级降到百毫秒级</a:t>
            </a:r>
            <a:endParaRPr sz="14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27" name="footer-page">
            <a:extLst>
              <a:ext uri="{FF2B5EF4-FFF2-40B4-BE49-F238E27FC236}">
                <a16:creationId xmlns:a16="http://schemas.microsoft.com/office/drawing/2014/main" id="{E34554D1-624A-4DF1-94B1-267FC8BC7ED1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723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>
            <a:extLst>
              <a:ext uri="{FF2B5EF4-FFF2-40B4-BE49-F238E27FC236}">
                <a16:creationId xmlns:a16="http://schemas.microsoft.com/office/drawing/2014/main" id="{9B6D4AE8-B2AA-4BCF-A22F-BC77570A1A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9B9B0C58-DF28-4F58-B0D1-AA4A619F1E4B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1FCAC33C-E4E8-4AF4-97B0-A0C39956D8C4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720F97FB-4737-451C-A400-77CA5CFC3B30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PARAMETER SWEEP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ECB27FAD-35E1-468E-9F52-A805AC93D63F}"/>
              </a:ext>
            </a:extLst>
          </p:cNvPr>
          <p:cNvSpPr>
            <a:spLocks noGrp="1"/>
          </p:cNvSpPr>
          <p:nvPr/>
        </p:nvSpPr>
        <p:spPr>
          <a:xfrm>
            <a:off x="609600" y="832485"/>
            <a:ext cx="9525000" cy="8248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--cache-reuse </a:t>
            </a: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仅作为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边际调参，不是结构</a:t>
            </a: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性解法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40FED5-1046-43B0-B664-67EBF5EA47CA}"/>
              </a:ext>
            </a:extLst>
          </p:cNvPr>
          <p:cNvSpPr>
            <a:spLocks noGrp="1"/>
          </p:cNvSpPr>
          <p:nvPr/>
        </p:nvSpPr>
        <p:spPr>
          <a:xfrm>
            <a:off x="895350" y="1581150"/>
            <a:ext cx="104013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1600" y="1638300"/>
            <a:ext cx="9460523" cy="2743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451441A-007A-44A4-9965-D69E4273F4EB}"/>
              </a:ext>
            </a:extLst>
          </p:cNvPr>
          <p:cNvSpPr>
            <a:spLocks noGrp="1"/>
          </p:cNvSpPr>
          <p:nvPr/>
        </p:nvSpPr>
        <p:spPr>
          <a:xfrm>
            <a:off x="895351" y="4629149"/>
            <a:ext cx="8754258" cy="3238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在稳定前缀已建立时，8K </a:t>
            </a: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的非零</a:t>
            </a: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reuse </a:t>
            </a: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普遍慢约</a:t>
            </a: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10%-11%；16K </a:t>
            </a: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最佳点只快约</a:t>
            </a: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2%-3%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1DE880-8DBA-4E50-ACE0-EE0C5F9F0668}"/>
              </a:ext>
            </a:extLst>
          </p:cNvPr>
          <p:cNvSpPr>
            <a:spLocks noGrp="1"/>
          </p:cNvSpPr>
          <p:nvPr/>
        </p:nvSpPr>
        <p:spPr>
          <a:xfrm>
            <a:off x="1059473" y="5214132"/>
            <a:ext cx="323850" cy="257175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hip-text">
            <a:extLst>
              <a:ext uri="{FF2B5EF4-FFF2-40B4-BE49-F238E27FC236}">
                <a16:creationId xmlns:a16="http://schemas.microsoft.com/office/drawing/2014/main" id="{3137E118-83CD-4F53-924A-BFBC14B51D58}"/>
              </a:ext>
            </a:extLst>
          </p:cNvPr>
          <p:cNvSpPr>
            <a:spLocks noGrp="1"/>
          </p:cNvSpPr>
          <p:nvPr/>
        </p:nvSpPr>
        <p:spPr>
          <a:xfrm>
            <a:off x="1154723" y="5242707"/>
            <a:ext cx="1333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C6C263-A937-4342-A56A-C1B4C4739A8A}"/>
              </a:ext>
            </a:extLst>
          </p:cNvPr>
          <p:cNvSpPr>
            <a:spLocks noGrp="1"/>
          </p:cNvSpPr>
          <p:nvPr/>
        </p:nvSpPr>
        <p:spPr>
          <a:xfrm>
            <a:off x="1440474" y="5181597"/>
            <a:ext cx="1828799" cy="32385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mpt-block-label">
            <a:extLst>
              <a:ext uri="{FF2B5EF4-FFF2-40B4-BE49-F238E27FC236}">
                <a16:creationId xmlns:a16="http://schemas.microsoft.com/office/drawing/2014/main" id="{FE6A3D8C-8CEC-4216-8234-FE60688CA2CE}"/>
              </a:ext>
            </a:extLst>
          </p:cNvPr>
          <p:cNvSpPr>
            <a:spLocks noGrp="1"/>
          </p:cNvSpPr>
          <p:nvPr/>
        </p:nvSpPr>
        <p:spPr>
          <a:xfrm>
            <a:off x="1440474" y="5238747"/>
            <a:ext cx="1826021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先固定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prompt </a:t>
            </a: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结构</a:t>
            </a:r>
            <a:endParaRPr sz="1200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E346A8-DF72-4429-832D-173DFF829504}"/>
              </a:ext>
            </a:extLst>
          </p:cNvPr>
          <p:cNvSpPr>
            <a:spLocks noGrp="1"/>
          </p:cNvSpPr>
          <p:nvPr/>
        </p:nvSpPr>
        <p:spPr>
          <a:xfrm>
            <a:off x="3326424" y="5114925"/>
            <a:ext cx="22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107A15-9150-4F05-B5C0-BC2C1C5AEA4F}"/>
              </a:ext>
            </a:extLst>
          </p:cNvPr>
          <p:cNvSpPr>
            <a:spLocks noGrp="1"/>
          </p:cNvSpPr>
          <p:nvPr/>
        </p:nvSpPr>
        <p:spPr>
          <a:xfrm>
            <a:off x="3626826" y="5219699"/>
            <a:ext cx="323850" cy="257175"/>
          </a:xfrm>
          <a:prstGeom prst="rect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hip-text">
            <a:extLst>
              <a:ext uri="{FF2B5EF4-FFF2-40B4-BE49-F238E27FC236}">
                <a16:creationId xmlns:a16="http://schemas.microsoft.com/office/drawing/2014/main" id="{2637CCB3-223F-428F-9F65-18FE2F82951B}"/>
              </a:ext>
            </a:extLst>
          </p:cNvPr>
          <p:cNvSpPr>
            <a:spLocks noGrp="1"/>
          </p:cNvSpPr>
          <p:nvPr/>
        </p:nvSpPr>
        <p:spPr>
          <a:xfrm>
            <a:off x="3722076" y="5248273"/>
            <a:ext cx="1333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D02CE9-B52E-4459-936D-E7BCA0F96908}"/>
              </a:ext>
            </a:extLst>
          </p:cNvPr>
          <p:cNvSpPr>
            <a:spLocks noGrp="1"/>
          </p:cNvSpPr>
          <p:nvPr/>
        </p:nvSpPr>
        <p:spPr>
          <a:xfrm>
            <a:off x="4017242" y="5176032"/>
            <a:ext cx="1841747" cy="323850"/>
          </a:xfrm>
          <a:prstGeom prst="rect">
            <a:avLst/>
          </a:prstGeom>
          <a:solidFill>
            <a:srgbClr val="DDE7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rompt-block-label">
            <a:extLst>
              <a:ext uri="{FF2B5EF4-FFF2-40B4-BE49-F238E27FC236}">
                <a16:creationId xmlns:a16="http://schemas.microsoft.com/office/drawing/2014/main" id="{67211A1E-8A05-4E36-9CC6-509A21456005}"/>
              </a:ext>
            </a:extLst>
          </p:cNvPr>
          <p:cNvSpPr>
            <a:spLocks noGrp="1"/>
          </p:cNvSpPr>
          <p:nvPr/>
        </p:nvSpPr>
        <p:spPr>
          <a:xfrm>
            <a:off x="4017242" y="5233182"/>
            <a:ext cx="1841747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再扫描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cache-reuse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178A9E-8B73-42CF-94CF-E4BFA2F79EA3}"/>
              </a:ext>
            </a:extLst>
          </p:cNvPr>
          <p:cNvSpPr>
            <a:spLocks noGrp="1"/>
          </p:cNvSpPr>
          <p:nvPr/>
        </p:nvSpPr>
        <p:spPr>
          <a:xfrm>
            <a:off x="5933887" y="5116667"/>
            <a:ext cx="22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445AB5-1C4F-48A7-BC61-CD6922580488}"/>
              </a:ext>
            </a:extLst>
          </p:cNvPr>
          <p:cNvSpPr>
            <a:spLocks noGrp="1"/>
          </p:cNvSpPr>
          <p:nvPr/>
        </p:nvSpPr>
        <p:spPr>
          <a:xfrm>
            <a:off x="6234289" y="5219697"/>
            <a:ext cx="323850" cy="257175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hip-text">
            <a:extLst>
              <a:ext uri="{FF2B5EF4-FFF2-40B4-BE49-F238E27FC236}">
                <a16:creationId xmlns:a16="http://schemas.microsoft.com/office/drawing/2014/main" id="{282AA8B0-B4FD-4277-92A6-CFE4EDAF5EFE}"/>
              </a:ext>
            </a:extLst>
          </p:cNvPr>
          <p:cNvSpPr>
            <a:spLocks noGrp="1"/>
          </p:cNvSpPr>
          <p:nvPr/>
        </p:nvSpPr>
        <p:spPr>
          <a:xfrm>
            <a:off x="6329539" y="5248272"/>
            <a:ext cx="1333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BE66EA-FEDD-4253-82F7-3AD49280AE9F}"/>
              </a:ext>
            </a:extLst>
          </p:cNvPr>
          <p:cNvSpPr>
            <a:spLocks noGrp="1"/>
          </p:cNvSpPr>
          <p:nvPr/>
        </p:nvSpPr>
        <p:spPr>
          <a:xfrm>
            <a:off x="6626850" y="5175392"/>
            <a:ext cx="1790700" cy="3238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mpt-block-label">
            <a:extLst>
              <a:ext uri="{FF2B5EF4-FFF2-40B4-BE49-F238E27FC236}">
                <a16:creationId xmlns:a16="http://schemas.microsoft.com/office/drawing/2014/main" id="{E598E636-2E3F-4478-95EB-D3B0B0F05F2A}"/>
              </a:ext>
            </a:extLst>
          </p:cNvPr>
          <p:cNvSpPr>
            <a:spLocks noGrp="1"/>
          </p:cNvSpPr>
          <p:nvPr/>
        </p:nvSpPr>
        <p:spPr>
          <a:xfrm>
            <a:off x="6722100" y="5232542"/>
            <a:ext cx="1600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再看</a:t>
            </a:r>
            <a:r>
              <a:rPr sz="12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slot / context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BBD4BE-62A9-4D21-8889-AA29133C5C61}"/>
              </a:ext>
            </a:extLst>
          </p:cNvPr>
          <p:cNvSpPr>
            <a:spLocks noGrp="1"/>
          </p:cNvSpPr>
          <p:nvPr/>
        </p:nvSpPr>
        <p:spPr>
          <a:xfrm>
            <a:off x="8486261" y="5109357"/>
            <a:ext cx="22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1FC432-63E5-4B3E-B26A-C3F89C5AE63C}"/>
              </a:ext>
            </a:extLst>
          </p:cNvPr>
          <p:cNvSpPr>
            <a:spLocks noGrp="1"/>
          </p:cNvSpPr>
          <p:nvPr/>
        </p:nvSpPr>
        <p:spPr>
          <a:xfrm>
            <a:off x="8774790" y="5214132"/>
            <a:ext cx="323850" cy="257175"/>
          </a:xfrm>
          <a:prstGeom prst="rect">
            <a:avLst/>
          </a:prstGeom>
          <a:solidFill>
            <a:srgbClr val="6270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hip-text">
            <a:extLst>
              <a:ext uri="{FF2B5EF4-FFF2-40B4-BE49-F238E27FC236}">
                <a16:creationId xmlns:a16="http://schemas.microsoft.com/office/drawing/2014/main" id="{A1E9A46F-C4AA-440D-9C09-2631DFF39356}"/>
              </a:ext>
            </a:extLst>
          </p:cNvPr>
          <p:cNvSpPr>
            <a:spLocks noGrp="1"/>
          </p:cNvSpPr>
          <p:nvPr/>
        </p:nvSpPr>
        <p:spPr>
          <a:xfrm>
            <a:off x="8870040" y="5240492"/>
            <a:ext cx="1333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AC3651-E342-46F5-ACF8-A2E6B3C703E2}"/>
              </a:ext>
            </a:extLst>
          </p:cNvPr>
          <p:cNvSpPr>
            <a:spLocks noGrp="1"/>
          </p:cNvSpPr>
          <p:nvPr/>
        </p:nvSpPr>
        <p:spPr>
          <a:xfrm>
            <a:off x="9165519" y="5175392"/>
            <a:ext cx="1790700" cy="323850"/>
          </a:xfrm>
          <a:prstGeom prst="rect">
            <a:avLst/>
          </a:prstGeom>
          <a:solidFill>
            <a:srgbClr val="ECE8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mpt-block-label">
            <a:extLst>
              <a:ext uri="{FF2B5EF4-FFF2-40B4-BE49-F238E27FC236}">
                <a16:creationId xmlns:a16="http://schemas.microsoft.com/office/drawing/2014/main" id="{D21FCA91-FFF1-4937-A7B9-1B2E5C18C076}"/>
              </a:ext>
            </a:extLst>
          </p:cNvPr>
          <p:cNvSpPr>
            <a:spLocks noGrp="1"/>
          </p:cNvSpPr>
          <p:nvPr/>
        </p:nvSpPr>
        <p:spPr>
          <a:xfrm>
            <a:off x="9260769" y="5232542"/>
            <a:ext cx="1600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最后调整量化与模型</a:t>
            </a:r>
          </a:p>
        </p:txBody>
      </p:sp>
      <p:sp>
        <p:nvSpPr>
          <p:cNvPr id="31" name="footer-page">
            <a:extLst>
              <a:ext uri="{FF2B5EF4-FFF2-40B4-BE49-F238E27FC236}">
                <a16:creationId xmlns:a16="http://schemas.microsoft.com/office/drawing/2014/main" id="{342C4F2F-5504-434D-8E84-FD592F39C96E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85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">
            <a:extLst>
              <a:ext uri="{FF2B5EF4-FFF2-40B4-BE49-F238E27FC236}">
                <a16:creationId xmlns:a16="http://schemas.microsoft.com/office/drawing/2014/main" id="{CA32B798-80D6-44BE-927C-947B450708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2937B4A9-6AF1-4F6B-ADC6-F40A420069B0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31B6639E-6774-4AF0-90BA-D87366BA0B99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91E8621F-D056-489A-B507-0AEC156E8D12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RESOURCE TRADEOFF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39119413-AD22-4E9A-A1D9-FC380C938B5D}"/>
              </a:ext>
            </a:extLst>
          </p:cNvPr>
          <p:cNvSpPr>
            <a:spLocks noGrp="1"/>
          </p:cNvSpPr>
          <p:nvPr/>
        </p:nvSpPr>
        <p:spPr>
          <a:xfrm>
            <a:off x="609600" y="885824"/>
            <a:ext cx="10096500" cy="771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缓存状态</a:t>
            </a:r>
            <a:r>
              <a:rPr lang="zh-CN" altLang="en-US" sz="2625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需</a:t>
            </a:r>
            <a:r>
              <a:rPr sz="2625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换成命中收益，否则只是在占内存</a:t>
            </a:r>
            <a:endParaRPr sz="2625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168536-E8DE-49F7-9BDB-B31EDCEB3D5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6096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1808107"/>
            <a:ext cx="5867400" cy="293698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6980189-76A3-43FF-B7D1-5171EC05E533}"/>
              </a:ext>
            </a:extLst>
          </p:cNvPr>
          <p:cNvSpPr>
            <a:spLocks noGrp="1"/>
          </p:cNvSpPr>
          <p:nvPr/>
        </p:nvSpPr>
        <p:spPr>
          <a:xfrm>
            <a:off x="781050" y="5124449"/>
            <a:ext cx="5657850" cy="92910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125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RSS </a:t>
            </a: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包含模型权重、Metal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缓冲区、运行时分配和缓存管理状态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，</a:t>
            </a:r>
            <a:endParaRPr lang="en-US" sz="1400" b="0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不能直接等同于逐</a:t>
            </a:r>
            <a:r>
              <a:rPr sz="1400" b="0" dirty="0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token KV </a:t>
            </a:r>
            <a:r>
              <a:rPr sz="1400" b="0" dirty="0" err="1">
                <a:solidFill>
                  <a:srgbClr val="6270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理论大小</a:t>
            </a:r>
            <a:endParaRPr sz="1400" b="0" dirty="0">
              <a:solidFill>
                <a:srgbClr val="6270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50C925-5B50-4609-8E1B-13EB5DE629D4}"/>
              </a:ext>
            </a:extLst>
          </p:cNvPr>
          <p:cNvSpPr>
            <a:spLocks noGrp="1"/>
          </p:cNvSpPr>
          <p:nvPr/>
        </p:nvSpPr>
        <p:spPr>
          <a:xfrm>
            <a:off x="7143750" y="1581150"/>
            <a:ext cx="4324350" cy="3390900"/>
          </a:xfrm>
          <a:prstGeom prst="rect">
            <a:avLst/>
          </a:prstGeom>
          <a:solidFill>
            <a:srgbClr val="172023"/>
          </a:solidFill>
          <a:ln w="9525">
            <a:solidFill>
              <a:srgbClr val="17202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65714-2FB8-453F-9F33-6F53B4E69BB2}"/>
              </a:ext>
            </a:extLst>
          </p:cNvPr>
          <p:cNvSpPr>
            <a:spLocks noGrp="1"/>
          </p:cNvSpPr>
          <p:nvPr/>
        </p:nvSpPr>
        <p:spPr>
          <a:xfrm>
            <a:off x="7448550" y="1847850"/>
            <a:ext cx="36004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 dirty="0">
                <a:solidFill>
                  <a:srgbClr val="0B7A5B"/>
                </a:solidFill>
                <a:latin typeface="Hiragino Sans GB"/>
                <a:ea typeface="Hiragino Sans GB"/>
                <a:cs typeface="Hiragino Sans GB"/>
              </a:rPr>
              <a:t>2.28-3.36 GiB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F18FEF-0863-4EBE-A7C1-64767C11CEAF}"/>
              </a:ext>
            </a:extLst>
          </p:cNvPr>
          <p:cNvSpPr>
            <a:spLocks noGrp="1"/>
          </p:cNvSpPr>
          <p:nvPr/>
        </p:nvSpPr>
        <p:spPr>
          <a:xfrm>
            <a:off x="7467600" y="24955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>
                <a:solidFill>
                  <a:srgbClr val="F7F4E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S2 peak RSS range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40650E-B4F4-4C45-AD49-D95D255F27AB}"/>
              </a:ext>
            </a:extLst>
          </p:cNvPr>
          <p:cNvSpPr>
            <a:spLocks noGrp="1"/>
          </p:cNvSpPr>
          <p:nvPr/>
        </p:nvSpPr>
        <p:spPr>
          <a:xfrm>
            <a:off x="7467600" y="2857500"/>
            <a:ext cx="2857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975" b="0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 dirty="0" err="1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在</a:t>
            </a:r>
            <a:r>
              <a:rPr sz="1100" b="1" dirty="0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2K-16K </a:t>
            </a:r>
            <a:r>
              <a:rPr sz="1100" b="1" dirty="0" err="1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范围内，资源开销可控</a:t>
            </a:r>
            <a:r>
              <a:rPr sz="1100" b="1" dirty="0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，</a:t>
            </a:r>
            <a:endParaRPr lang="en-US" sz="1100" b="1" dirty="0">
              <a:solidFill>
                <a:srgbClr val="B9C4B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  <a:p>
            <a:pPr algn="l">
              <a:lnSpc>
                <a:spcPct val="150000"/>
              </a:lnSpc>
              <a:defRPr sz="975" b="0">
                <a:solidFill>
                  <a:srgbClr val="B9C4B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00" b="1" dirty="0" err="1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同时换来百倍级</a:t>
            </a:r>
            <a:r>
              <a:rPr sz="1100" b="1" dirty="0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TTFT </a:t>
            </a:r>
            <a:r>
              <a:rPr sz="1100" b="1" dirty="0" err="1">
                <a:solidFill>
                  <a:srgbClr val="B9C4B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加速</a:t>
            </a:r>
            <a:endParaRPr sz="1100" b="1" dirty="0">
              <a:solidFill>
                <a:srgbClr val="B9C4B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3" name="rule">
            <a:extLst>
              <a:ext uri="{FF2B5EF4-FFF2-40B4-BE49-F238E27FC236}">
                <a16:creationId xmlns:a16="http://schemas.microsoft.com/office/drawing/2014/main" id="{DCC672BA-F688-4C9F-AADC-C9BF4E6C200C}"/>
              </a:ext>
            </a:extLst>
          </p:cNvPr>
          <p:cNvSpPr>
            <a:spLocks noGrp="1"/>
          </p:cNvSpPr>
          <p:nvPr/>
        </p:nvSpPr>
        <p:spPr>
          <a:xfrm>
            <a:off x="7448550" y="3429000"/>
            <a:ext cx="3048000" cy="13335"/>
          </a:xfrm>
          <a:prstGeom prst="rect">
            <a:avLst/>
          </a:prstGeom>
          <a:solidFill>
            <a:srgbClr val="4550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3A8BCF-472F-4044-8EC5-6A4313C0FB87}"/>
              </a:ext>
            </a:extLst>
          </p:cNvPr>
          <p:cNvSpPr>
            <a:spLocks noGrp="1"/>
          </p:cNvSpPr>
          <p:nvPr/>
        </p:nvSpPr>
        <p:spPr>
          <a:xfrm>
            <a:off x="7448550" y="3676650"/>
            <a:ext cx="552450" cy="30480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mpt-block-label">
            <a:extLst>
              <a:ext uri="{FF2B5EF4-FFF2-40B4-BE49-F238E27FC236}">
                <a16:creationId xmlns:a16="http://schemas.microsoft.com/office/drawing/2014/main" id="{CC31BA2B-5C59-45D1-9092-078F626FE652}"/>
              </a:ext>
            </a:extLst>
          </p:cNvPr>
          <p:cNvSpPr>
            <a:spLocks noGrp="1"/>
          </p:cNvSpPr>
          <p:nvPr/>
        </p:nvSpPr>
        <p:spPr>
          <a:xfrm>
            <a:off x="7543800" y="37338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328D97-7F04-44BA-A17C-0CF140003E34}"/>
              </a:ext>
            </a:extLst>
          </p:cNvPr>
          <p:cNvSpPr>
            <a:spLocks noGrp="1"/>
          </p:cNvSpPr>
          <p:nvPr/>
        </p:nvSpPr>
        <p:spPr>
          <a:xfrm>
            <a:off x="8153400" y="3629025"/>
            <a:ext cx="244901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12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内存占用更高，但</a:t>
            </a:r>
            <a:r>
              <a:rPr sz="1125" b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TTFT </a:t>
            </a:r>
            <a:r>
              <a:rPr sz="1125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没有改善</a:t>
            </a:r>
            <a:r>
              <a:rPr sz="1125" b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r>
              <a:rPr lang="zh-CN" altLang="en-US" sz="1125" b="1" i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因为</a:t>
            </a:r>
            <a:r>
              <a:rPr sz="1125" b="1" i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前缀无法稳定命中</a:t>
            </a:r>
            <a:endParaRPr sz="1125" b="1" i="1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D035C2-1E27-4EB3-B66B-F91EAC1682D1}"/>
              </a:ext>
            </a:extLst>
          </p:cNvPr>
          <p:cNvSpPr>
            <a:spLocks noGrp="1"/>
          </p:cNvSpPr>
          <p:nvPr/>
        </p:nvSpPr>
        <p:spPr>
          <a:xfrm>
            <a:off x="7448550" y="4352925"/>
            <a:ext cx="552450" cy="3048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mpt-block-label">
            <a:extLst>
              <a:ext uri="{FF2B5EF4-FFF2-40B4-BE49-F238E27FC236}">
                <a16:creationId xmlns:a16="http://schemas.microsoft.com/office/drawing/2014/main" id="{055E00B3-5EEA-4CD6-925E-4953D516F6E7}"/>
              </a:ext>
            </a:extLst>
          </p:cNvPr>
          <p:cNvSpPr>
            <a:spLocks noGrp="1"/>
          </p:cNvSpPr>
          <p:nvPr/>
        </p:nvSpPr>
        <p:spPr>
          <a:xfrm>
            <a:off x="7543800" y="4410075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E49223-4E4C-4F49-8795-537A84C8EE1B}"/>
              </a:ext>
            </a:extLst>
          </p:cNvPr>
          <p:cNvSpPr>
            <a:spLocks noGrp="1"/>
          </p:cNvSpPr>
          <p:nvPr/>
        </p:nvSpPr>
        <p:spPr>
          <a:xfrm>
            <a:off x="8153400" y="4305300"/>
            <a:ext cx="3276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defRPr sz="112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同样使用缓存</a:t>
            </a:r>
            <a:r>
              <a:rPr sz="1125" b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，</a:t>
            </a:r>
            <a:endParaRPr lang="en-US" sz="1125" b="1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但稳定前缀把缓存状态转化为</a:t>
            </a:r>
            <a:r>
              <a:rPr sz="1125" b="1" i="1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warm-turn </a:t>
            </a:r>
            <a:r>
              <a:rPr sz="1125" b="1" i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性能</a:t>
            </a:r>
            <a:endParaRPr sz="1125" b="1" i="1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callout-rule">
            <a:extLst>
              <a:ext uri="{FF2B5EF4-FFF2-40B4-BE49-F238E27FC236}">
                <a16:creationId xmlns:a16="http://schemas.microsoft.com/office/drawing/2014/main" id="{4A3A541D-8F8E-4A92-81E8-3BB21B0965EF}"/>
              </a:ext>
            </a:extLst>
          </p:cNvPr>
          <p:cNvSpPr>
            <a:spLocks noGrp="1"/>
          </p:cNvSpPr>
          <p:nvPr/>
        </p:nvSpPr>
        <p:spPr>
          <a:xfrm>
            <a:off x="7181850" y="5276850"/>
            <a:ext cx="38100" cy="4953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allout-text">
            <a:extLst>
              <a:ext uri="{FF2B5EF4-FFF2-40B4-BE49-F238E27FC236}">
                <a16:creationId xmlns:a16="http://schemas.microsoft.com/office/drawing/2014/main" id="{C12E5B60-09E8-4B29-A9E2-A0254B35754C}"/>
              </a:ext>
            </a:extLst>
          </p:cNvPr>
          <p:cNvSpPr>
            <a:spLocks noGrp="1"/>
          </p:cNvSpPr>
          <p:nvPr/>
        </p:nvSpPr>
        <p:spPr>
          <a:xfrm>
            <a:off x="7334249" y="5206365"/>
            <a:ext cx="4668697" cy="5276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关键不是“占用更多缓存</a:t>
            </a:r>
            <a:r>
              <a:rPr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”</a:t>
            </a:r>
            <a:r>
              <a:rPr lang="zh-CN" altLang="en-US" sz="1600" b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，</a:t>
            </a:r>
            <a:endParaRPr lang="en-US" altLang="zh-CN"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  <a:p>
            <a:pPr algn="l">
              <a:lnSpc>
                <a:spcPct val="150000"/>
              </a:lnSpc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  <a:cs typeface="Hiragino Sans GB"/>
              </a:rPr>
              <a:t>而是缓存命中是否稳定</a:t>
            </a:r>
            <a:endParaRPr sz="1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  <a:cs typeface="Hiragino Sans GB"/>
            </a:endParaRPr>
          </a:p>
        </p:txBody>
      </p:sp>
      <p:sp>
        <p:nvSpPr>
          <p:cNvPr id="23" name="footer-page">
            <a:extLst>
              <a:ext uri="{FF2B5EF4-FFF2-40B4-BE49-F238E27FC236}">
                <a16:creationId xmlns:a16="http://schemas.microsoft.com/office/drawing/2014/main" id="{00A7CD6A-0F33-444B-BEF9-7028FDF5402D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9204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ABC7B6E9-94F3-441A-925E-913D97FBD3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19E1E680-77B7-4D1B-84F9-2307649F081B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C04A28BB-B98E-4E9F-B9F5-5B899FDD9D3D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892E5CF4-EA95-4E56-893C-46BA89B1CE3A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dirty="0">
                <a:solidFill>
                  <a:srgbClr val="62706A"/>
                </a:solidFill>
                <a:latin typeface="Hiragino Sans GB"/>
                <a:ea typeface="Hiragino Sans GB"/>
                <a:cs typeface="Hiragino Sans GB"/>
              </a:rPr>
              <a:t>CONCLUSION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85EEA646-9F37-442D-B86B-C6D28AC5658D}"/>
              </a:ext>
            </a:extLst>
          </p:cNvPr>
          <p:cNvSpPr>
            <a:spLocks noGrp="1"/>
          </p:cNvSpPr>
          <p:nvPr/>
        </p:nvSpPr>
        <p:spPr>
          <a:xfrm>
            <a:off x="609600" y="851532"/>
            <a:ext cx="8572500" cy="80581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3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把</a:t>
            </a:r>
            <a:r>
              <a:rPr sz="263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prompt </a:t>
            </a:r>
            <a:r>
              <a:rPr lang="zh-CN" altLang="en-US" sz="263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结构视作</a:t>
            </a:r>
            <a:r>
              <a:rPr sz="263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性能接口</a:t>
            </a:r>
            <a:endParaRPr sz="2630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62E81E0-32F8-4654-879C-52E63FB1EDD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6610350" cy="3676650"/>
          </a:xfrm>
          <a:prstGeom prst="rect">
            <a:avLst/>
          </a:prstGeom>
          <a:solidFill>
            <a:srgbClr val="FEFCF7"/>
          </a:solidFill>
          <a:ln w="9525">
            <a:solidFill>
              <a:srgbClr val="D9DED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F4C6BB-8FDC-4B6D-AA0A-737B2656C8A1}"/>
              </a:ext>
            </a:extLst>
          </p:cNvPr>
          <p:cNvSpPr>
            <a:spLocks noGrp="1"/>
          </p:cNvSpPr>
          <p:nvPr/>
        </p:nvSpPr>
        <p:spPr>
          <a:xfrm>
            <a:off x="990600" y="1880231"/>
            <a:ext cx="4718538" cy="3867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900" b="1" i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recommended prompt template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6524B2-C168-47B1-95AC-C7120CE4BFF9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1581150" cy="5334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ompt-block-label">
            <a:extLst>
              <a:ext uri="{FF2B5EF4-FFF2-40B4-BE49-F238E27FC236}">
                <a16:creationId xmlns:a16="http://schemas.microsoft.com/office/drawing/2014/main" id="{36F5D6A3-678A-4591-8874-973AE1E53E37}"/>
              </a:ext>
            </a:extLst>
          </p:cNvPr>
          <p:cNvSpPr>
            <a:spLocks noGrp="1"/>
          </p:cNvSpPr>
          <p:nvPr/>
        </p:nvSpPr>
        <p:spPr>
          <a:xfrm>
            <a:off x="1085850" y="2400300"/>
            <a:ext cx="1390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system instruction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86A9CE-8251-486C-98BC-DFC34E75740D}"/>
              </a:ext>
            </a:extLst>
          </p:cNvPr>
          <p:cNvSpPr>
            <a:spLocks noGrp="1"/>
          </p:cNvSpPr>
          <p:nvPr/>
        </p:nvSpPr>
        <p:spPr>
          <a:xfrm>
            <a:off x="2647950" y="2343150"/>
            <a:ext cx="1238250" cy="5334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ompt-block-label">
            <a:extLst>
              <a:ext uri="{FF2B5EF4-FFF2-40B4-BE49-F238E27FC236}">
                <a16:creationId xmlns:a16="http://schemas.microsoft.com/office/drawing/2014/main" id="{D690967A-F941-4501-AC3F-F60EA4C439C0}"/>
              </a:ext>
            </a:extLst>
          </p:cNvPr>
          <p:cNvSpPr>
            <a:spLocks noGrp="1"/>
          </p:cNvSpPr>
          <p:nvPr/>
        </p:nvSpPr>
        <p:spPr>
          <a:xfrm>
            <a:off x="2743200" y="2400300"/>
            <a:ext cx="1047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tool schema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D7D8FC-E6D0-468B-87ED-31CEFB47A8AB}"/>
              </a:ext>
            </a:extLst>
          </p:cNvPr>
          <p:cNvSpPr>
            <a:spLocks noGrp="1"/>
          </p:cNvSpPr>
          <p:nvPr/>
        </p:nvSpPr>
        <p:spPr>
          <a:xfrm>
            <a:off x="3962400" y="2343150"/>
            <a:ext cx="1276350" cy="5334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rompt-block-label">
            <a:extLst>
              <a:ext uri="{FF2B5EF4-FFF2-40B4-BE49-F238E27FC236}">
                <a16:creationId xmlns:a16="http://schemas.microsoft.com/office/drawing/2014/main" id="{6C6C8CF1-8887-4BF4-A5C8-4CFDF4B7E896}"/>
              </a:ext>
            </a:extLst>
          </p:cNvPr>
          <p:cNvSpPr>
            <a:spLocks noGrp="1"/>
          </p:cNvSpPr>
          <p:nvPr/>
        </p:nvSpPr>
        <p:spPr>
          <a:xfrm>
            <a:off x="4057650" y="2400300"/>
            <a:ext cx="1085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repo summary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5629D3-AE1E-42AA-AC06-450DE5C98B95}"/>
              </a:ext>
            </a:extLst>
          </p:cNvPr>
          <p:cNvSpPr>
            <a:spLocks noGrp="1"/>
          </p:cNvSpPr>
          <p:nvPr/>
        </p:nvSpPr>
        <p:spPr>
          <a:xfrm>
            <a:off x="5314950" y="2343150"/>
            <a:ext cx="1562100" cy="533400"/>
          </a:xfrm>
          <a:prstGeom prst="rect">
            <a:avLst/>
          </a:prstGeom>
          <a:solidFill>
            <a:srgbClr val="DCEC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mpt-block-label">
            <a:extLst>
              <a:ext uri="{FF2B5EF4-FFF2-40B4-BE49-F238E27FC236}">
                <a16:creationId xmlns:a16="http://schemas.microsoft.com/office/drawing/2014/main" id="{398F3856-ABB3-4599-AB08-630AA9D088D2}"/>
              </a:ext>
            </a:extLst>
          </p:cNvPr>
          <p:cNvSpPr>
            <a:spLocks noGrp="1"/>
          </p:cNvSpPr>
          <p:nvPr/>
        </p:nvSpPr>
        <p:spPr>
          <a:xfrm>
            <a:off x="5295900" y="2400300"/>
            <a:ext cx="1581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fixed docs</a:t>
            </a:r>
            <a:endParaRPr lang="en-US" sz="1000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  <a:p>
            <a:pPr algn="ctr">
              <a:defRPr sz="90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long-term memory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BDC410-01DF-46EA-9CAB-ED0509FFE1E3}"/>
              </a:ext>
            </a:extLst>
          </p:cNvPr>
          <p:cNvSpPr>
            <a:spLocks noGrp="1"/>
          </p:cNvSpPr>
          <p:nvPr/>
        </p:nvSpPr>
        <p:spPr>
          <a:xfrm>
            <a:off x="1447800" y="3101068"/>
            <a:ext cx="5048250" cy="327932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hip-text">
            <a:extLst>
              <a:ext uri="{FF2B5EF4-FFF2-40B4-BE49-F238E27FC236}">
                <a16:creationId xmlns:a16="http://schemas.microsoft.com/office/drawing/2014/main" id="{D01A6DA9-5F5E-4FBA-B48F-980838FC9D6E}"/>
              </a:ext>
            </a:extLst>
          </p:cNvPr>
          <p:cNvSpPr>
            <a:spLocks noGrp="1"/>
          </p:cNvSpPr>
          <p:nvPr/>
        </p:nvSpPr>
        <p:spPr>
          <a:xfrm>
            <a:off x="1447800" y="3101068"/>
            <a:ext cx="5048250" cy="3279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stable prefix: byte-level stable across turns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4CDA50-2FC4-4C97-B01B-099B62269F9A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1200150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prompt-block-label">
            <a:extLst>
              <a:ext uri="{FF2B5EF4-FFF2-40B4-BE49-F238E27FC236}">
                <a16:creationId xmlns:a16="http://schemas.microsoft.com/office/drawing/2014/main" id="{48969C1B-7ABD-4D4C-ACF5-DA58BC6D044F}"/>
              </a:ext>
            </a:extLst>
          </p:cNvPr>
          <p:cNvSpPr>
            <a:spLocks noGrp="1"/>
          </p:cNvSpPr>
          <p:nvPr/>
        </p:nvSpPr>
        <p:spPr>
          <a:xfrm>
            <a:off x="1085850" y="3790950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>
                <a:solidFill>
                  <a:srgbClr val="172023"/>
                </a:solidFill>
                <a:latin typeface="Menlo"/>
                <a:ea typeface="Menlo"/>
                <a:cs typeface="Menlo"/>
              </a:rPr>
              <a:t>current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839E31-7520-4119-8AAE-F2E127BCC16A}"/>
              </a:ext>
            </a:extLst>
          </p:cNvPr>
          <p:cNvSpPr>
            <a:spLocks noGrp="1"/>
          </p:cNvSpPr>
          <p:nvPr/>
        </p:nvSpPr>
        <p:spPr>
          <a:xfrm>
            <a:off x="2286000" y="3733800"/>
            <a:ext cx="1371600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rompt-block-label">
            <a:extLst>
              <a:ext uri="{FF2B5EF4-FFF2-40B4-BE49-F238E27FC236}">
                <a16:creationId xmlns:a16="http://schemas.microsoft.com/office/drawing/2014/main" id="{2C3CAB13-AC69-47D9-87A0-3043232FC06F}"/>
              </a:ext>
            </a:extLst>
          </p:cNvPr>
          <p:cNvSpPr>
            <a:spLocks noGrp="1"/>
          </p:cNvSpPr>
          <p:nvPr/>
        </p:nvSpPr>
        <p:spPr>
          <a:xfrm>
            <a:off x="2381250" y="3790950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lang="en"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r</a:t>
            </a:r>
            <a:r>
              <a:rPr sz="1000" b="1" dirty="0" err="1">
                <a:solidFill>
                  <a:srgbClr val="172023"/>
                </a:solidFill>
                <a:latin typeface="Menlo"/>
                <a:ea typeface="Menlo"/>
                <a:cs typeface="Menlo"/>
              </a:rPr>
              <a:t>equest</a:t>
            </a:r>
            <a:endParaRPr lang="en-US" sz="1000" b="1" dirty="0">
              <a:solidFill>
                <a:srgbClr val="172023"/>
              </a:solidFill>
              <a:latin typeface="Menlo"/>
              <a:ea typeface="Menlo"/>
              <a:cs typeface="Menlo"/>
            </a:endParaRPr>
          </a:p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turn id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DEC803-EF27-4581-BA07-12126EC462CF}"/>
              </a:ext>
            </a:extLst>
          </p:cNvPr>
          <p:cNvSpPr>
            <a:spLocks noGrp="1"/>
          </p:cNvSpPr>
          <p:nvPr/>
        </p:nvSpPr>
        <p:spPr>
          <a:xfrm>
            <a:off x="3752850" y="3733800"/>
            <a:ext cx="1390650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prompt-block-label">
            <a:extLst>
              <a:ext uri="{FF2B5EF4-FFF2-40B4-BE49-F238E27FC236}">
                <a16:creationId xmlns:a16="http://schemas.microsoft.com/office/drawing/2014/main" id="{1ADB0CFF-DF88-4D3D-B398-7A9EC88C8FA3}"/>
              </a:ext>
            </a:extLst>
          </p:cNvPr>
          <p:cNvSpPr>
            <a:spLocks noGrp="1"/>
          </p:cNvSpPr>
          <p:nvPr/>
        </p:nvSpPr>
        <p:spPr>
          <a:xfrm>
            <a:off x="3848100" y="379095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latest error</a:t>
            </a:r>
          </a:p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tool result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760779-17B5-49EA-9389-1710EEBEB5A7}"/>
              </a:ext>
            </a:extLst>
          </p:cNvPr>
          <p:cNvSpPr>
            <a:spLocks noGrp="1"/>
          </p:cNvSpPr>
          <p:nvPr/>
        </p:nvSpPr>
        <p:spPr>
          <a:xfrm>
            <a:off x="5238750" y="3733800"/>
            <a:ext cx="1638300" cy="438150"/>
          </a:xfrm>
          <a:prstGeom prst="rect">
            <a:avLst/>
          </a:prstGeom>
          <a:solidFill>
            <a:srgbClr val="F3D7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mpt-block-label">
            <a:extLst>
              <a:ext uri="{FF2B5EF4-FFF2-40B4-BE49-F238E27FC236}">
                <a16:creationId xmlns:a16="http://schemas.microsoft.com/office/drawing/2014/main" id="{ADB276E5-AD15-439A-A83C-4C70268C4A7A}"/>
              </a:ext>
            </a:extLst>
          </p:cNvPr>
          <p:cNvSpPr>
            <a:spLocks noGrp="1"/>
          </p:cNvSpPr>
          <p:nvPr/>
        </p:nvSpPr>
        <p:spPr>
          <a:xfrm>
            <a:off x="5238750" y="3790950"/>
            <a:ext cx="1638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72023"/>
                </a:solidFill>
                <a:latin typeface="Menlo"/>
                <a:ea typeface="Menlo"/>
                <a:cs typeface="Menlo"/>
              </a:defRPr>
            </a:pPr>
            <a:r>
              <a:rPr sz="1000" b="1" dirty="0">
                <a:solidFill>
                  <a:srgbClr val="172023"/>
                </a:solidFill>
                <a:latin typeface="Menlo"/>
                <a:ea typeface="Menlo"/>
                <a:cs typeface="Menlo"/>
              </a:rPr>
              <a:t>current user ask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78DD5B-DB93-47E0-A642-9DFD07E73E6B}"/>
              </a:ext>
            </a:extLst>
          </p:cNvPr>
          <p:cNvSpPr>
            <a:spLocks noGrp="1"/>
          </p:cNvSpPr>
          <p:nvPr/>
        </p:nvSpPr>
        <p:spPr>
          <a:xfrm>
            <a:off x="1447800" y="4419601"/>
            <a:ext cx="5048250" cy="323850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chip-text">
            <a:extLst>
              <a:ext uri="{FF2B5EF4-FFF2-40B4-BE49-F238E27FC236}">
                <a16:creationId xmlns:a16="http://schemas.microsoft.com/office/drawing/2014/main" id="{7F2B73E3-99B8-42F7-9698-63C2A6371C5B}"/>
              </a:ext>
            </a:extLst>
          </p:cNvPr>
          <p:cNvSpPr>
            <a:spLocks noGrp="1"/>
          </p:cNvSpPr>
          <p:nvPr/>
        </p:nvSpPr>
        <p:spPr>
          <a:xfrm>
            <a:off x="1447800" y="44196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00" b="1" dirty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dynamic suffix: allowed to change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DA8E912-EE79-49B9-B5D1-935749269BCC}"/>
              </a:ext>
            </a:extLst>
          </p:cNvPr>
          <p:cNvSpPr>
            <a:spLocks noGrp="1"/>
          </p:cNvSpPr>
          <p:nvPr/>
        </p:nvSpPr>
        <p:spPr>
          <a:xfrm>
            <a:off x="7486649" y="1638300"/>
            <a:ext cx="3922085" cy="3676650"/>
          </a:xfrm>
          <a:prstGeom prst="rect">
            <a:avLst/>
          </a:prstGeom>
          <a:solidFill>
            <a:srgbClr val="172023"/>
          </a:solidFill>
          <a:ln w="9525">
            <a:solidFill>
              <a:srgbClr val="172023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3CDA72-52F8-4433-A899-8716E22818F4}"/>
              </a:ext>
            </a:extLst>
          </p:cNvPr>
          <p:cNvSpPr>
            <a:spLocks noGrp="1"/>
          </p:cNvSpPr>
          <p:nvPr/>
        </p:nvSpPr>
        <p:spPr>
          <a:xfrm>
            <a:off x="7486648" y="1880231"/>
            <a:ext cx="3922085" cy="2847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7F4EA"/>
                </a:solidFill>
                <a:latin typeface="Menlo"/>
                <a:ea typeface="Menlo"/>
                <a:cs typeface="Menlo"/>
              </a:defRPr>
            </a:pPr>
            <a:r>
              <a:rPr sz="1900" b="1" dirty="0">
                <a:solidFill>
                  <a:srgbClr val="F7F4EA"/>
                </a:solidFill>
                <a:latin typeface="Menlo"/>
                <a:ea typeface="Menlo"/>
                <a:cs typeface="Menlo"/>
              </a:rPr>
              <a:t>implementation checklist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73582E-3518-4EC3-8700-E3FF565BD5E4}"/>
              </a:ext>
            </a:extLst>
          </p:cNvPr>
          <p:cNvSpPr>
            <a:spLocks noGrp="1"/>
          </p:cNvSpPr>
          <p:nvPr/>
        </p:nvSpPr>
        <p:spPr>
          <a:xfrm>
            <a:off x="7810500" y="2400300"/>
            <a:ext cx="285750" cy="257175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hip-text">
            <a:extLst>
              <a:ext uri="{FF2B5EF4-FFF2-40B4-BE49-F238E27FC236}">
                <a16:creationId xmlns:a16="http://schemas.microsoft.com/office/drawing/2014/main" id="{12BBC3C5-BDED-4F91-9AB7-046B2D1A54C9}"/>
              </a:ext>
            </a:extLst>
          </p:cNvPr>
          <p:cNvSpPr>
            <a:spLocks noGrp="1"/>
          </p:cNvSpPr>
          <p:nvPr/>
        </p:nvSpPr>
        <p:spPr>
          <a:xfrm>
            <a:off x="7905750" y="2428875"/>
            <a:ext cx="95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39EF99-30B3-4CA1-BF67-11D1E35A2475}"/>
              </a:ext>
            </a:extLst>
          </p:cNvPr>
          <p:cNvSpPr>
            <a:spLocks noGrp="1"/>
          </p:cNvSpPr>
          <p:nvPr/>
        </p:nvSpPr>
        <p:spPr>
          <a:xfrm>
            <a:off x="8248649" y="2381250"/>
            <a:ext cx="26765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050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稳定内容前置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：系统指令、工具</a:t>
            </a:r>
            <a:r>
              <a:rPr lang="zh-CN" altLang="en-US"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定义</a:t>
            </a:r>
            <a:r>
              <a:rPr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、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仓库摘要、固定文档、长期记忆</a:t>
            </a:r>
            <a:endParaRPr sz="1200" b="0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rule">
            <a:extLst>
              <a:ext uri="{FF2B5EF4-FFF2-40B4-BE49-F238E27FC236}">
                <a16:creationId xmlns:a16="http://schemas.microsoft.com/office/drawing/2014/main" id="{CF706DE4-E710-4661-83F5-C33FD3A01522}"/>
              </a:ext>
            </a:extLst>
          </p:cNvPr>
          <p:cNvSpPr>
            <a:spLocks noGrp="1"/>
          </p:cNvSpPr>
          <p:nvPr/>
        </p:nvSpPr>
        <p:spPr>
          <a:xfrm>
            <a:off x="7810500" y="2895600"/>
            <a:ext cx="2952750" cy="13335"/>
          </a:xfrm>
          <a:prstGeom prst="rect">
            <a:avLst/>
          </a:prstGeom>
          <a:solidFill>
            <a:srgbClr val="4550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331EB28-4785-4EEC-BAB5-C591CE12C969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85750" cy="257175"/>
          </a:xfrm>
          <a:prstGeom prst="rect">
            <a:avLst/>
          </a:prstGeom>
          <a:solidFill>
            <a:srgbClr val="D26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chip-text">
            <a:extLst>
              <a:ext uri="{FF2B5EF4-FFF2-40B4-BE49-F238E27FC236}">
                <a16:creationId xmlns:a16="http://schemas.microsoft.com/office/drawing/2014/main" id="{26A7BF88-2EEB-460D-A6DC-9A530C108CAC}"/>
              </a:ext>
            </a:extLst>
          </p:cNvPr>
          <p:cNvSpPr>
            <a:spLocks noGrp="1"/>
          </p:cNvSpPr>
          <p:nvPr/>
        </p:nvSpPr>
        <p:spPr>
          <a:xfrm>
            <a:off x="7905750" y="3076575"/>
            <a:ext cx="95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6264922-52B9-45EA-8E51-2F394263AD10}"/>
              </a:ext>
            </a:extLst>
          </p:cNvPr>
          <p:cNvSpPr>
            <a:spLocks noGrp="1"/>
          </p:cNvSpPr>
          <p:nvPr/>
        </p:nvSpPr>
        <p:spPr>
          <a:xfrm>
            <a:off x="8248649" y="3028950"/>
            <a:ext cx="2676523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050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动态内容后置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：request</a:t>
            </a:r>
            <a:r>
              <a:rPr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id、turn</a:t>
            </a:r>
            <a:r>
              <a:rPr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id、最新错误、工具返回、用户请求</a:t>
            </a:r>
            <a:endParaRPr sz="1200" b="0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rule">
            <a:extLst>
              <a:ext uri="{FF2B5EF4-FFF2-40B4-BE49-F238E27FC236}">
                <a16:creationId xmlns:a16="http://schemas.microsoft.com/office/drawing/2014/main" id="{562591FF-4768-4333-8022-838C0147F434}"/>
              </a:ext>
            </a:extLst>
          </p:cNvPr>
          <p:cNvSpPr>
            <a:spLocks noGrp="1"/>
          </p:cNvSpPr>
          <p:nvPr/>
        </p:nvSpPr>
        <p:spPr>
          <a:xfrm>
            <a:off x="7810500" y="3543300"/>
            <a:ext cx="2952750" cy="13335"/>
          </a:xfrm>
          <a:prstGeom prst="rect">
            <a:avLst/>
          </a:prstGeom>
          <a:solidFill>
            <a:srgbClr val="4550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1547B82-8314-46C7-BAC6-396DD9B2E4F3}"/>
              </a:ext>
            </a:extLst>
          </p:cNvPr>
          <p:cNvSpPr>
            <a:spLocks noGrp="1"/>
          </p:cNvSpPr>
          <p:nvPr/>
        </p:nvSpPr>
        <p:spPr>
          <a:xfrm>
            <a:off x="7810500" y="3695700"/>
            <a:ext cx="285750" cy="257175"/>
          </a:xfrm>
          <a:prstGeom prst="rect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chip-text">
            <a:extLst>
              <a:ext uri="{FF2B5EF4-FFF2-40B4-BE49-F238E27FC236}">
                <a16:creationId xmlns:a16="http://schemas.microsoft.com/office/drawing/2014/main" id="{7E13B89A-D53F-4343-AF8F-13FD81030F3B}"/>
              </a:ext>
            </a:extLst>
          </p:cNvPr>
          <p:cNvSpPr>
            <a:spLocks noGrp="1"/>
          </p:cNvSpPr>
          <p:nvPr/>
        </p:nvSpPr>
        <p:spPr>
          <a:xfrm>
            <a:off x="7905750" y="3724275"/>
            <a:ext cx="95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5E6A313-C3C8-4445-B8B9-C2EC2F901166}"/>
              </a:ext>
            </a:extLst>
          </p:cNvPr>
          <p:cNvSpPr>
            <a:spLocks noGrp="1"/>
          </p:cNvSpPr>
          <p:nvPr/>
        </p:nvSpPr>
        <p:spPr>
          <a:xfrm>
            <a:off x="8248650" y="3676650"/>
            <a:ext cx="2676524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050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保持跨轮稳定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：避免随机顺序</a:t>
            </a:r>
            <a:r>
              <a:rPr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JSON、临时路径、计数器混入前缀</a:t>
            </a:r>
            <a:endParaRPr sz="1200" b="0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rule">
            <a:extLst>
              <a:ext uri="{FF2B5EF4-FFF2-40B4-BE49-F238E27FC236}">
                <a16:creationId xmlns:a16="http://schemas.microsoft.com/office/drawing/2014/main" id="{9CA79324-950D-4F2E-9598-BB72C419D4D1}"/>
              </a:ext>
            </a:extLst>
          </p:cNvPr>
          <p:cNvSpPr>
            <a:spLocks noGrp="1"/>
          </p:cNvSpPr>
          <p:nvPr/>
        </p:nvSpPr>
        <p:spPr>
          <a:xfrm>
            <a:off x="7810500" y="4191000"/>
            <a:ext cx="2952750" cy="13335"/>
          </a:xfrm>
          <a:prstGeom prst="rect">
            <a:avLst/>
          </a:prstGeom>
          <a:solidFill>
            <a:srgbClr val="4550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78CC892-BF6D-4374-B612-007C737BCFD8}"/>
              </a:ext>
            </a:extLst>
          </p:cNvPr>
          <p:cNvSpPr>
            <a:spLocks noGrp="1"/>
          </p:cNvSpPr>
          <p:nvPr/>
        </p:nvSpPr>
        <p:spPr>
          <a:xfrm>
            <a:off x="7810500" y="4343400"/>
            <a:ext cx="285750" cy="257175"/>
          </a:xfrm>
          <a:prstGeom prst="rect">
            <a:avLst/>
          </a:prstGeom>
          <a:solidFill>
            <a:srgbClr val="315C9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chip-text">
            <a:extLst>
              <a:ext uri="{FF2B5EF4-FFF2-40B4-BE49-F238E27FC236}">
                <a16:creationId xmlns:a16="http://schemas.microsoft.com/office/drawing/2014/main" id="{D1C93F04-FDCD-4CEE-A43C-953705B629CD}"/>
              </a:ext>
            </a:extLst>
          </p:cNvPr>
          <p:cNvSpPr>
            <a:spLocks noGrp="1"/>
          </p:cNvSpPr>
          <p:nvPr/>
        </p:nvSpPr>
        <p:spPr>
          <a:xfrm>
            <a:off x="7905750" y="4371975"/>
            <a:ext cx="95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2DC419-0681-41F6-9B2A-F2ED544085C6}"/>
              </a:ext>
            </a:extLst>
          </p:cNvPr>
          <p:cNvSpPr>
            <a:spLocks noGrp="1"/>
          </p:cNvSpPr>
          <p:nvPr/>
        </p:nvSpPr>
        <p:spPr>
          <a:xfrm>
            <a:off x="8248650" y="4324350"/>
            <a:ext cx="2495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050" b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优化顺序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：稳定前缀协议优先，再调</a:t>
            </a:r>
            <a:r>
              <a:rPr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 </a:t>
            </a:r>
            <a:r>
              <a:rPr sz="1200" b="0" dirty="0" err="1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reuse、slot、上下文长度和</a:t>
            </a:r>
            <a:r>
              <a:rPr lang="zh-CN" altLang="en-US" sz="1200" b="0" dirty="0">
                <a:solidFill>
                  <a:srgbClr val="F7F4EA"/>
                </a:solidFill>
                <a:latin typeface="Hiragino Sans GB"/>
                <a:ea typeface="Hiragino Sans GB"/>
                <a:cs typeface="Hiragino Sans GB"/>
              </a:rPr>
              <a:t>量化</a:t>
            </a:r>
            <a:endParaRPr sz="1200" b="0" dirty="0">
              <a:solidFill>
                <a:srgbClr val="F7F4E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callout-rule">
            <a:extLst>
              <a:ext uri="{FF2B5EF4-FFF2-40B4-BE49-F238E27FC236}">
                <a16:creationId xmlns:a16="http://schemas.microsoft.com/office/drawing/2014/main" id="{010A979E-B85D-4B6A-A269-760417452833}"/>
              </a:ext>
            </a:extLst>
          </p:cNvPr>
          <p:cNvSpPr>
            <a:spLocks noGrp="1"/>
          </p:cNvSpPr>
          <p:nvPr/>
        </p:nvSpPr>
        <p:spPr>
          <a:xfrm>
            <a:off x="2095500" y="5644518"/>
            <a:ext cx="38100" cy="4953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callout-text">
            <a:extLst>
              <a:ext uri="{FF2B5EF4-FFF2-40B4-BE49-F238E27FC236}">
                <a16:creationId xmlns:a16="http://schemas.microsoft.com/office/drawing/2014/main" id="{4F98D567-45FF-4CE2-B9A8-95F796112D9C}"/>
              </a:ext>
            </a:extLst>
          </p:cNvPr>
          <p:cNvSpPr>
            <a:spLocks noGrp="1"/>
          </p:cNvSpPr>
          <p:nvPr/>
        </p:nvSpPr>
        <p:spPr>
          <a:xfrm>
            <a:off x="2247900" y="5682618"/>
            <a:ext cx="5734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先让</a:t>
            </a: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cache </a:t>
            </a: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有东西可命中，再</a:t>
            </a:r>
            <a:r>
              <a:rPr lang="zh-CN" altLang="en-US"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进一步实验</a:t>
            </a:r>
            <a:r>
              <a:rPr sz="1600" b="1" dirty="0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 cache </a:t>
            </a:r>
            <a:r>
              <a:rPr sz="1600" b="1" dirty="0" err="1">
                <a:solidFill>
                  <a:srgbClr val="172023"/>
                </a:solidFill>
                <a:latin typeface="Hiragino Sans GB"/>
                <a:ea typeface="Hiragino Sans GB"/>
                <a:cs typeface="Hiragino Sans GB"/>
              </a:rPr>
              <a:t>参数怎么调</a:t>
            </a:r>
            <a:endParaRPr sz="1600" b="1" dirty="0">
              <a:solidFill>
                <a:srgbClr val="172023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47" name="图形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05800" y="5701668"/>
            <a:ext cx="381000" cy="381000"/>
          </a:xfrm>
          <a:prstGeom prst="rect">
            <a:avLst/>
          </a:prstGeom>
        </p:spPr>
      </p:pic>
      <p:sp>
        <p:nvSpPr>
          <p:cNvPr id="49" name="footer-page">
            <a:extLst>
              <a:ext uri="{FF2B5EF4-FFF2-40B4-BE49-F238E27FC236}">
                <a16:creationId xmlns:a16="http://schemas.microsoft.com/office/drawing/2014/main" id="{9A90072D-FB32-454E-AE42-CF1218834366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62706A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3714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5AB8-A24A-7B04-FA95-B46196A8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ground">
            <a:extLst>
              <a:ext uri="{FF2B5EF4-FFF2-40B4-BE49-F238E27FC236}">
                <a16:creationId xmlns:a16="http://schemas.microsoft.com/office/drawing/2014/main" id="{B53D6C9E-1572-94F7-2B5F-FB1C2E1E0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hairline">
            <a:extLst>
              <a:ext uri="{FF2B5EF4-FFF2-40B4-BE49-F238E27FC236}">
                <a16:creationId xmlns:a16="http://schemas.microsoft.com/office/drawing/2014/main" id="{4C8491A1-5236-0ED3-ED43-AFE1548498F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10972800" cy="13335"/>
          </a:xfrm>
          <a:prstGeom prst="rect">
            <a:avLst/>
          </a:prstGeom>
          <a:solidFill>
            <a:srgbClr val="D9DE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>
              <a:ext uri="{FF2B5EF4-FFF2-40B4-BE49-F238E27FC236}">
                <a16:creationId xmlns:a16="http://schemas.microsoft.com/office/drawing/2014/main" id="{27464F4A-ABCA-6601-39FF-27378FCB8807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5250" cy="95250"/>
          </a:xfrm>
          <a:prstGeom prst="ellipse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>
              <a:ext uri="{FF2B5EF4-FFF2-40B4-BE49-F238E27FC236}">
                <a16:creationId xmlns:a16="http://schemas.microsoft.com/office/drawing/2014/main" id="{5A88A62F-1CD1-59FC-520F-B464CA3F5EB7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r>
              <a:rPr sz="900" b="1">
                <a:solidFill>
                  <a:srgbClr val="62706A"/>
                </a:solidFill>
              </a:rPr>
              <a:t>THANKS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BBFB4653-6A15-8F51-C8CD-F56F7257B693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5200000" cy="105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5600" b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谢谢</a:t>
            </a:r>
            <a:endParaRPr sz="5600" b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callout-rule">
            <a:extLst>
              <a:ext uri="{FF2B5EF4-FFF2-40B4-BE49-F238E27FC236}">
                <a16:creationId xmlns:a16="http://schemas.microsoft.com/office/drawing/2014/main" id="{19FB7469-58C4-3EA4-5F66-EEE8A29F118C}"/>
              </a:ext>
            </a:extLst>
          </p:cNvPr>
          <p:cNvSpPr>
            <a:spLocks noGrp="1"/>
          </p:cNvSpPr>
          <p:nvPr/>
        </p:nvSpPr>
        <p:spPr>
          <a:xfrm>
            <a:off x="685800" y="2946400"/>
            <a:ext cx="38100" cy="560000"/>
          </a:xfrm>
          <a:prstGeom prst="rect">
            <a:avLst/>
          </a:prstGeom>
          <a:solidFill>
            <a:srgbClr val="0B7A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callout-text">
            <a:extLst>
              <a:ext uri="{FF2B5EF4-FFF2-40B4-BE49-F238E27FC236}">
                <a16:creationId xmlns:a16="http://schemas.microsoft.com/office/drawing/2014/main" id="{D21E1E40-18F8-B26B-AB5E-D5ABA011F208}"/>
              </a:ext>
            </a:extLst>
          </p:cNvPr>
          <p:cNvSpPr>
            <a:spLocks noGrp="1"/>
          </p:cNvSpPr>
          <p:nvPr/>
        </p:nvSpPr>
        <p:spPr>
          <a:xfrm>
            <a:off x="876300" y="2912000"/>
            <a:ext cx="7900000" cy="6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r>
              <a:rPr sz="2200" b="1" i="1" dirty="0" err="1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谢谢老师和同学们的倾听，欢迎指正</a:t>
            </a:r>
            <a:r>
              <a:rPr lang="zh-CN" altLang="en-US" sz="2200" b="1" i="1" dirty="0">
                <a:solidFill>
                  <a:srgbClr val="17202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！</a:t>
            </a:r>
            <a:endParaRPr sz="2200" b="1" i="1" dirty="0">
              <a:solidFill>
                <a:srgbClr val="17202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footer-page">
            <a:extLst>
              <a:ext uri="{FF2B5EF4-FFF2-40B4-BE49-F238E27FC236}">
                <a16:creationId xmlns:a16="http://schemas.microsoft.com/office/drawing/2014/main" id="{8537DEC6-C8DE-0C26-FEA8-FB6C5EF0B0BC}"/>
              </a:ext>
            </a:extLst>
          </p:cNvPr>
          <p:cNvSpPr>
            <a:spLocks noGrp="1"/>
          </p:cNvSpPr>
          <p:nvPr/>
        </p:nvSpPr>
        <p:spPr>
          <a:xfrm>
            <a:off x="11125200" y="6515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2706A"/>
                </a:solidFill>
                <a:latin typeface="Menlo"/>
                <a:ea typeface="Menlo"/>
                <a:cs typeface="Menlo"/>
              </a:defRPr>
            </a:pPr>
            <a:r>
              <a:rPr sz="825" b="1" dirty="0">
                <a:solidFill>
                  <a:srgbClr val="62706A"/>
                </a:solidFill>
                <a:latin typeface="Menlo"/>
                <a:ea typeface="Menlo"/>
                <a:cs typeface="Menlo"/>
              </a:rPr>
              <a:t>1</a:t>
            </a:r>
            <a:r>
              <a:rPr lang="en-US" altLang="zh-CN" sz="825" b="1" dirty="0">
                <a:solidFill>
                  <a:srgbClr val="62706A"/>
                </a:solidFill>
                <a:latin typeface="Menlo"/>
                <a:ea typeface="Menlo"/>
                <a:cs typeface="Menlo"/>
              </a:rPr>
              <a:t>1</a:t>
            </a:r>
            <a:endParaRPr sz="825" b="1" dirty="0">
              <a:solidFill>
                <a:srgbClr val="62706A"/>
              </a:solidFill>
              <a:latin typeface="Menlo"/>
              <a:ea typeface="Menlo"/>
              <a:cs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50733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756</Words>
  <Application>Microsoft Macintosh PowerPoint</Application>
  <DocSecurity>0</DocSecurity>
  <PresentationFormat>宽屏</PresentationFormat>
  <Paragraphs>244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KaiTi</vt:lpstr>
      <vt:lpstr>Microsoft YaHei</vt:lpstr>
      <vt:lpstr>Hiragino Sans GB</vt:lpstr>
      <vt:lpstr>Calibri</vt:lpstr>
      <vt:lpstr>Cambria Math</vt:lpstr>
      <vt:lpstr>Menlo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sicheng hu</cp:lastModifiedBy>
  <cp:revision>200</cp:revision>
  <dcterms:created xsi:type="dcterms:W3CDTF">2026-05-17T02:36:40Z</dcterms:created>
  <dcterms:modified xsi:type="dcterms:W3CDTF">2026-05-18T01:48:51Z</dcterms:modified>
</cp:coreProperties>
</file>